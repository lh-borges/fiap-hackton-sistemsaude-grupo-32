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-480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Imagine um paciente que faz uma consulta pelo SUS.</a:t>
            </a:r>
          </a:p>
          <a:p>
            <a:endParaRPr/>
          </a:p>
          <a:p>
            <a:r>
              <a:t>O médico solicita um exame.</a:t>
            </a:r>
          </a:p>
          <a:p>
            <a:endParaRPr/>
          </a:p>
          <a:p>
            <a:r>
              <a:t>Dias depois, o paciente faz esse exame.</a:t>
            </a:r>
          </a:p>
          <a:p>
            <a:endParaRPr/>
          </a:p>
          <a:p>
            <a:r>
              <a:t>Depois precisa descobrir se o resultado ficou pronto, conseguir esse resultado, retornar ao médico, receber uma avaliação, talvez uma receita ou um novo documento.</a:t>
            </a:r>
          </a:p>
          <a:p>
            <a:endParaRPr/>
          </a:p>
          <a:p>
            <a:r>
              <a:t>O problema é que essas informações podem estar distribuídas entre diferentes unidades, sistemas e etapas do atendimento.</a:t>
            </a:r>
          </a:p>
          <a:p>
            <a:endParaRPr/>
          </a:p>
          <a:p>
            <a:r>
              <a:t>A pergunta que orientou nosso projeto foi simples: e se toda essa jornada pudesse ser acompanhada como uma única história?</a:t>
            </a:r>
          </a:p>
          <a:p>
            <a:endParaRPr/>
          </a:p>
          <a:p>
            <a:r>
              <a:t>Foi a partir dessa ideia que desenvolvemos a Plataforma Digital de Atendimento 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desenvolver essa solução, dividimos o sistema por responsabilidades.</a:t>
            </a:r>
          </a:p>
          <a:p>
            <a:endParaRPr/>
          </a:p>
          <a:p>
            <a:r>
              <a:t>Eu, Danilo F. de Paula e Silva, atuei principalmente com notificações, histórico do paciente, mensageria com Kafka e apoio ao vídeo.</a:t>
            </a:r>
          </a:p>
          <a:p>
            <a:endParaRPr/>
          </a:p>
          <a:p>
            <a:r>
              <a:t>Luis Henrique S. Borges atuou como Tech Lead, com foco em arquitetura, segurança, IAM e cadastros.</a:t>
            </a:r>
          </a:p>
          <a:p>
            <a:endParaRPr/>
          </a:p>
          <a:p>
            <a:r>
              <a:t>Gilmar da Costa M. Junior atuou como Product Owner, com foco em infraestrutura, banco, Docker, PostgreSQL e Flyway.</a:t>
            </a:r>
          </a:p>
          <a:p>
            <a:endParaRPr/>
          </a:p>
          <a:p>
            <a:r>
              <a:t>Thiago de Jesus Cordeiro atuou no desenvolvimento de consultas, exames, resultados e receitas.</a:t>
            </a:r>
          </a:p>
          <a:p>
            <a:endParaRPr/>
          </a:p>
          <a:p>
            <a:r>
              <a:t>E Juliana Olio atuou em QA, pareceres, documentos médicos e qualidade.</a:t>
            </a:r>
          </a:p>
          <a:p>
            <a:endParaRPr/>
          </a:p>
          <a:p>
            <a:r>
              <a:t>Essa divisão ajudou a manter cada frente com responsabilidade clara, sem perder a integração da jornada como um produto único.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problema que atacamos não é simplesmente a existência de vários sistemas.</a:t>
            </a:r>
          </a:p>
          <a:p>
            <a:endParaRPr/>
          </a:p>
          <a:p>
            <a:r>
              <a:t>O problema é a fragmentação da jornada.</a:t>
            </a:r>
          </a:p>
          <a:p>
            <a:endParaRPr/>
          </a:p>
          <a:p>
            <a:r>
              <a:t>Uma informação nasce na consulta.</a:t>
            </a:r>
          </a:p>
          <a:p>
            <a:endParaRPr/>
          </a:p>
          <a:p>
            <a:r>
              <a:t>Outra nasce no exame.</a:t>
            </a:r>
          </a:p>
          <a:p>
            <a:endParaRPr/>
          </a:p>
          <a:p>
            <a:r>
              <a:t>Outra no resultado.</a:t>
            </a:r>
          </a:p>
          <a:p>
            <a:endParaRPr/>
          </a:p>
          <a:p>
            <a:r>
              <a:t>Depois existe a interpretação médica, a receita, o documento.</a:t>
            </a:r>
          </a:p>
          <a:p>
            <a:endParaRPr/>
          </a:p>
          <a:p>
            <a:r>
              <a:t>Quando essas informações não formam uma sequência clara, o paciente perde visibilidade e o profissional perde contexto.</a:t>
            </a:r>
          </a:p>
          <a:p>
            <a:endParaRPr/>
          </a:p>
          <a:p>
            <a:r>
              <a:t>Isso gera busca manual de informações, retrabalho e dificuldade para acompanhar a continuidade do atendimento.</a:t>
            </a:r>
          </a:p>
          <a:p>
            <a:endParaRPr/>
          </a:p>
          <a:p>
            <a:r>
              <a:t>Então nós não tentamos simplesmente digitalizar documentos.</a:t>
            </a:r>
          </a:p>
          <a:p>
            <a:endParaRPr/>
          </a:p>
          <a:p>
            <a:r>
              <a:t>Tentamos digitalizar a jornada.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Nossa proposta foi criar uma plataforma capaz de centralizar essa jornada.</a:t>
            </a:r>
          </a:p>
          <a:p>
            <a:endParaRPr/>
          </a:p>
          <a:p>
            <a:r>
              <a:t>Consulta, solicitação de exame, realização, resultado, parecer médico, receita, documentos, notificações e histórico passam a fazer parte de um mesmo fluxo.</a:t>
            </a:r>
          </a:p>
          <a:p>
            <a:endParaRPr/>
          </a:p>
          <a:p>
            <a:r>
              <a:t>O paciente consegue acompanhar o atendimento.</a:t>
            </a:r>
          </a:p>
          <a:p>
            <a:endParaRPr/>
          </a:p>
          <a:p>
            <a:r>
              <a:t>O médico consegue acessar o contexto clínico necessário e analisar resultados remotamente.</a:t>
            </a:r>
          </a:p>
          <a:p>
            <a:endParaRPr/>
          </a:p>
          <a:p>
            <a:r>
              <a:t>E tudo isso respeitando permissões específicas para paciente, médico, atendente e administrador.</a:t>
            </a:r>
          </a:p>
          <a:p>
            <a:endParaRPr/>
          </a:p>
          <a:p>
            <a:r>
              <a:t>O paciente acessa o que é dele.</a:t>
            </a:r>
          </a:p>
          <a:p>
            <a:endParaRPr/>
          </a:p>
          <a:p>
            <a:r>
              <a:t>O médico atua sobre os pacientes que atende.</a:t>
            </a:r>
          </a:p>
          <a:p>
            <a:endParaRPr/>
          </a:p>
          <a:p>
            <a:r>
              <a:t>O atendente apoia o fluxo administrativo.</a:t>
            </a:r>
          </a:p>
          <a:p>
            <a:endParaRPr/>
          </a:p>
          <a:p>
            <a:r>
              <a:t>E o administrador tem visão global para gestão e cadastros.</a:t>
            </a:r>
          </a:p>
          <a:p>
            <a:endParaRPr/>
          </a:p>
          <a:p>
            <a:r>
              <a:t>Essa mudança de perspectiva é o ponto central do projeto: a tecnologia organiza a jornada, em vez de criar apenas mais uma coleção de registros soltos.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acompanhar um exemplo.</a:t>
            </a:r>
          </a:p>
          <a:p>
            <a:endParaRPr/>
          </a:p>
          <a:p>
            <a:r>
              <a:t>Um paciente tem uma consulta agendada.</a:t>
            </a:r>
          </a:p>
          <a:p>
            <a:endParaRPr/>
          </a:p>
          <a:p>
            <a:r>
              <a:t>O médico realiza a consulta e solicita um exame.</a:t>
            </a:r>
          </a:p>
          <a:p>
            <a:endParaRPr/>
          </a:p>
          <a:p>
            <a:r>
              <a:t>O exame é agendado e realizado.</a:t>
            </a:r>
          </a:p>
          <a:p>
            <a:endParaRPr/>
          </a:p>
          <a:p>
            <a:r>
              <a:t>O resultado é disponibilizado.</a:t>
            </a:r>
          </a:p>
          <a:p>
            <a:endParaRPr/>
          </a:p>
          <a:p>
            <a:r>
              <a:t>O médico analisa esse resultado e registra um parecer.</a:t>
            </a:r>
          </a:p>
          <a:p>
            <a:endParaRPr/>
          </a:p>
          <a:p>
            <a:r>
              <a:t>Se necessário, emite uma receita ou um documento.</a:t>
            </a:r>
          </a:p>
          <a:p>
            <a:endParaRPr/>
          </a:p>
          <a:p>
            <a:r>
              <a:t>E, durante toda essa jornada, paciente e profissional recebem notificações sobre os acontecimentos relevantes.</a:t>
            </a:r>
          </a:p>
          <a:p>
            <a:endParaRPr/>
          </a:p>
          <a:p>
            <a:r>
              <a:t>No final, todos esses registros aparecem organizados cronologicamente no histórico do paciente.</a:t>
            </a:r>
          </a:p>
          <a:p>
            <a:endParaRPr/>
          </a:p>
          <a:p>
            <a:r>
              <a:t>Esse histórico não é uma segunda cópia das informações.</a:t>
            </a:r>
          </a:p>
          <a:p>
            <a:endParaRPr/>
          </a:p>
          <a:p>
            <a:r>
              <a:t>Ele é montado a partir dos registros que já existem nos módulos.</a:t>
            </a:r>
          </a:p>
          <a:p>
            <a:endParaRPr/>
          </a:p>
          <a:p>
            <a:r>
              <a:t>Assim evitamos duplicação e preservamos a fonte original de cada informação.</a:t>
            </a:r>
          </a:p>
          <a:p>
            <a:endParaRPr/>
          </a:p>
          <a:p>
            <a:r>
              <a:t>Esse detalhe é importante porque mantém o histórico sempre conectado ao dado real que originou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Havia uma decisão de domínio que consideramos fundamental: resultado de exame e parecer médico não são a mesma coisa.</a:t>
            </a:r>
          </a:p>
          <a:p>
            <a:endParaRPr/>
          </a:p>
          <a:p>
            <a:r>
              <a:t>O resultado representa o dado técnico produzido pelo exame.</a:t>
            </a:r>
          </a:p>
          <a:p>
            <a:endParaRPr/>
          </a:p>
          <a:p>
            <a:r>
              <a:t>Ele pode ser um resultado de imagem, com URL de arquivo, descrição e laudo técnico, ou um resultado laboratorial estruturado, com parâmetro, valor, unidade, faixa de referência e situação.</a:t>
            </a:r>
          </a:p>
          <a:p>
            <a:endParaRPr/>
          </a:p>
          <a:p>
            <a:r>
              <a:t>O parecer representa a interpretação clínica feita pelo médico sobre aquele resultado.</a:t>
            </a:r>
          </a:p>
          <a:p>
            <a:endParaRPr/>
          </a:p>
          <a:p>
            <a:r>
              <a:t>Por isso armazenamos os dois separadamente.</a:t>
            </a:r>
          </a:p>
          <a:p>
            <a:endParaRPr/>
          </a:p>
          <a:p>
            <a:r>
              <a:t>O médico pode interpretar um resultado, mas o parecer jamais altera o resultado original.</a:t>
            </a:r>
          </a:p>
          <a:p>
            <a:endParaRPr/>
          </a:p>
          <a:p>
            <a:r>
              <a:t>Essa separação preserva autoria, histórico e rastreabilidade.</a:t>
            </a:r>
          </a:p>
          <a:p>
            <a:endParaRPr/>
          </a:p>
          <a:p>
            <a:r>
              <a:t>Ela também evita misturar duas naturezas diferentes de informação: o dado técnico produzido pelo exame e a decisão clínica tomada a partir desse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suportar essa jornada, dividimos o MVP em quatro grandes capacidades.</a:t>
            </a:r>
          </a:p>
          <a:p>
            <a:endParaRPr/>
          </a:p>
          <a:p>
            <a:r>
              <a:t>Primeiro, identidade e acesso, com autenticação, autorização por perfil, usuários e roles.</a:t>
            </a:r>
          </a:p>
          <a:p>
            <a:endParaRPr/>
          </a:p>
          <a:p>
            <a:r>
              <a:t>Segundo, atendimento, cobrindo consultas, exames, solicitações e agendamentos.</a:t>
            </a:r>
          </a:p>
          <a:p>
            <a:endParaRPr/>
          </a:p>
          <a:p>
            <a:r>
              <a:t>Terceiro, informação clínica, com resultados, pareceres, receitas e documentos médicos.</a:t>
            </a:r>
          </a:p>
          <a:p>
            <a:endParaRPr/>
          </a:p>
          <a:p>
            <a:r>
              <a:t>E quarto, continuidade da jornada, com notificações e histórico do paciente.</a:t>
            </a:r>
          </a:p>
          <a:p>
            <a:endParaRPr/>
          </a:p>
          <a:p>
            <a:r>
              <a:t>A ideia aqui não é listar endpoints.</a:t>
            </a:r>
          </a:p>
          <a:p>
            <a:endParaRPr/>
          </a:p>
          <a:p>
            <a:r>
              <a:t>O ponto é mostrar que cada capacidade existe para sustentar uma parte da jornada.</a:t>
            </a:r>
          </a:p>
          <a:p>
            <a:endParaRPr/>
          </a:p>
          <a:p>
            <a:r>
              <a:t>Identidade garante quem pode agir.</a:t>
            </a:r>
          </a:p>
          <a:p>
            <a:endParaRPr/>
          </a:p>
          <a:p>
            <a:r>
              <a:t>Atendimento organiza o fluxo.</a:t>
            </a:r>
          </a:p>
          <a:p>
            <a:endParaRPr/>
          </a:p>
          <a:p>
            <a:r>
              <a:t>Informação clínica preserva os registros importantes.</a:t>
            </a:r>
          </a:p>
          <a:p>
            <a:endParaRPr/>
          </a:p>
          <a:p>
            <a:r>
              <a:t>E continuidade garante que paciente e profissional consigam acompanhar o que está acontecendo ao longo do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Existem regras importantes de privacidade.</a:t>
            </a:r>
          </a:p>
          <a:p>
            <a:endParaRPr/>
          </a:p>
          <a:p>
            <a:r>
              <a:t>O paciente só pode acessar seus próprios registros.</a:t>
            </a:r>
          </a:p>
          <a:p>
            <a:endParaRPr/>
          </a:p>
          <a:p>
            <a:r>
              <a:t>Inclusive, quando tenta acessar o registro de outra pessoa, retornamos 404 em vez de 403, evitando até mesmo revelar que aquele recurso existe.</a:t>
            </a:r>
          </a:p>
          <a:p>
            <a:endParaRPr/>
          </a:p>
          <a:p>
            <a:r>
              <a:t>Essa é uma decisão pequena no código, mas muito relevante do ponto de vista de segurança.</a:t>
            </a:r>
          </a:p>
          <a:p>
            <a:endParaRPr/>
          </a:p>
          <a:p>
            <a:r>
              <a:t>O id do paciente vem do token, não da requisição, para evitar que alguém simplesmente troque um identificador e leia dados de outra pessoa.</a:t>
            </a:r>
          </a:p>
          <a:p>
            <a:endParaRPr/>
          </a:p>
          <a:p>
            <a:r>
              <a:t>Também evitamos registrar em log CPF, cartão SUS, resultado, laudo, diagnóstico ou medicamento.</a:t>
            </a:r>
          </a:p>
          <a:p>
            <a:endParaRPr/>
          </a:p>
          <a:p>
            <a:r>
              <a:t>Ou seja: segurança não aparece só na autenticação.</a:t>
            </a:r>
          </a:p>
          <a:p>
            <a:endParaRPr/>
          </a:p>
          <a:p>
            <a:r>
              <a:t>Ela aparece no desenho do acesso, nos casos de uso, nos logs, nos eventos e até na forma como o sistema responde quando alguém tenta acessar algo que não deveria.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implementar tudo isso, precisávamos equilibrar duas coisas: simplicidade suficiente para um MVP e estrutura suficiente para permitir evolução.</a:t>
            </a:r>
          </a:p>
          <a:p>
            <a:endParaRPr/>
          </a:p>
          <a:p>
            <a:r>
              <a:t>Por isso escolhemos um monólito modular utilizando Spring Modulith.</a:t>
            </a:r>
          </a:p>
          <a:p>
            <a:endParaRPr/>
          </a:p>
          <a:p>
            <a:r>
              <a:t>Isso significa que temos um único deploy, mas internamente o sistema é dividido em módulos de negócio com fronteiras explícitas.</a:t>
            </a:r>
          </a:p>
          <a:p>
            <a:endParaRPr/>
          </a:p>
          <a:p>
            <a:r>
              <a:t>Cada módulo possui sua própria Clean Architecture e apenas uma API pública pode ser utilizada pelos demais módulos.</a:t>
            </a:r>
          </a:p>
          <a:p>
            <a:endParaRPr/>
          </a:p>
          <a:p>
            <a:r>
              <a:t>Essas fronteiras são verificadas automaticamente durante o build.</a:t>
            </a:r>
          </a:p>
          <a:p>
            <a:endParaRPr/>
          </a:p>
          <a:p>
            <a:r>
              <a:t>Tecnicamente, o backend utiliza Java 21 e Spring Boot 3.5.</a:t>
            </a:r>
          </a:p>
          <a:p>
            <a:endParaRPr/>
          </a:p>
          <a:p>
            <a:r>
              <a:t>PostgreSQL e Flyway cuidam da persistência e do versionamento do banco.</a:t>
            </a:r>
          </a:p>
          <a:p>
            <a:endParaRPr/>
          </a:p>
          <a:p>
            <a:r>
              <a:t>Spring Security e JWT cuidam de autenticação e autorização.</a:t>
            </a:r>
          </a:p>
          <a:p>
            <a:endParaRPr/>
          </a:p>
          <a:p>
            <a:r>
              <a:t>Kafka é utilizado para externalização dos eventos.</a:t>
            </a:r>
          </a:p>
          <a:p>
            <a:endParaRPr/>
          </a:p>
          <a:p>
            <a:r>
              <a:t>Prometheus e Grafana fornecem observabilidade.</a:t>
            </a:r>
          </a:p>
          <a:p>
            <a:endParaRPr/>
          </a:p>
          <a:p>
            <a:r>
              <a:t>E todo o ambiente pode ser iniciado de maneira reproduzível com Docker Compose.</a:t>
            </a:r>
          </a:p>
          <a:p>
            <a:endParaRPr/>
          </a:p>
          <a:p>
            <a:r>
              <a:t>Não começamos com microserviços apenas porque eles são populares.</a:t>
            </a:r>
          </a:p>
          <a:p>
            <a:endParaRPr/>
          </a:p>
          <a:p>
            <a:r>
              <a:t>Construímos módulos que podem ser separados futuramente caso escala, equipe ou domínio justifiquem isso.</a:t>
            </a:r>
          </a:p>
          <a:p>
            <a:endParaRPr/>
          </a:p>
          <a:p>
            <a:r>
              <a:t>Assim evitamos pagar agora o custo operacional de uma arquitetura distribuída sem impedir uma evolução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Outro cuidado foi não permitir que uma infraestrutura secundária interrompesse o atendimento.</a:t>
            </a:r>
          </a:p>
          <a:p>
            <a:endParaRPr/>
          </a:p>
          <a:p>
            <a:r>
              <a:t>Quando uma consulta é agendada, por exemplo, o sistema publica um evento.</a:t>
            </a:r>
          </a:p>
          <a:p>
            <a:endParaRPr/>
          </a:p>
          <a:p>
            <a:r>
              <a:t>A operação clínica é concluída normalmente.</a:t>
            </a:r>
          </a:p>
          <a:p>
            <a:endParaRPr/>
          </a:p>
          <a:p>
            <a:r>
              <a:t>Depois do commit, notificações e Kafka processam esse acontecimento de forma independente.</a:t>
            </a:r>
          </a:p>
          <a:p>
            <a:endParaRPr/>
          </a:p>
          <a:p>
            <a:r>
              <a:t>Portanto, uma indisponibilidade do broker não impede o agendamento da consulta.</a:t>
            </a:r>
          </a:p>
          <a:p>
            <a:endParaRPr/>
          </a:p>
          <a:p>
            <a:r>
              <a:t>A notificação interna nasce a partir do evento entregue pelo Spring Modulith, depois do commit.</a:t>
            </a:r>
          </a:p>
          <a:p>
            <a:endParaRPr/>
          </a:p>
          <a:p>
            <a:r>
              <a:t>O Kafka externaliza esse mesmo fato para integração e observabilidade, mas não vira dependência do fluxo clínico.</a:t>
            </a:r>
          </a:p>
          <a:p>
            <a:endParaRPr/>
          </a:p>
          <a:p>
            <a:r>
              <a:t>Também tratamos reentrega de forma idempotente, para que uma falha não gere notificações duplicadas.</a:t>
            </a:r>
          </a:p>
          <a:p>
            <a:endParaRPr/>
          </a:p>
          <a:p>
            <a:r>
              <a:t>E o payload dos eventos não carrega dado clínico sensível.</a:t>
            </a:r>
          </a:p>
          <a:p>
            <a:endParaRPr/>
          </a:p>
          <a:p>
            <a:r>
              <a:t>Mensageria é consequência do atendimento.</a:t>
            </a:r>
          </a:p>
          <a:p>
            <a:endParaRPr/>
          </a:p>
          <a:p>
            <a:r>
              <a:t>Não é dependência do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Também adotamos Spec-Driven Development.</a:t>
            </a:r>
          </a:p>
          <a:p>
            <a:endParaRPr/>
          </a:p>
          <a:p>
            <a:r>
              <a:t>Antes da implementação de cada feature, definimos o que ela deveria fazer, como seria implementada e quais tarefas precisavam ser executadas.</a:t>
            </a:r>
          </a:p>
          <a:p>
            <a:endParaRPr/>
          </a:p>
          <a:p>
            <a:r>
              <a:t>Na prática, para cada feature existe uma especificação de negócio, um plano técnico, uma lista de tarefas e um contrato OpenAPI.</a:t>
            </a:r>
          </a:p>
          <a:p>
            <a:endParaRPr/>
          </a:p>
          <a:p>
            <a:r>
              <a:t>A spec responde o que precisa acontecer e por quê.</a:t>
            </a:r>
          </a:p>
          <a:p>
            <a:endParaRPr/>
          </a:p>
          <a:p>
            <a:r>
              <a:t>O plan responde como implementar.</a:t>
            </a:r>
          </a:p>
          <a:p>
            <a:endParaRPr/>
          </a:p>
          <a:p>
            <a:r>
              <a:t>O tasks organiza em que ordem a equipe vai executar.</a:t>
            </a:r>
          </a:p>
          <a:p>
            <a:endParaRPr/>
          </a:p>
          <a:p>
            <a:r>
              <a:t>Isso foi importante porque cinco pessoas estavam trabalhando em módulos que se relacionam.</a:t>
            </a:r>
          </a:p>
          <a:p>
            <a:endParaRPr/>
          </a:p>
          <a:p>
            <a:r>
              <a:t>Sem esse alinhamento, decisões importantes poderiam ser descobertas acidentalmente durante a codificação.</a:t>
            </a:r>
          </a:p>
          <a:p>
            <a:endParaRPr/>
          </a:p>
          <a:p>
            <a:r>
              <a:t>E existe uma frase que resume bem esse processo: a spec é o artefato que dura; o código é a implementação atual dessa spec.</a:t>
            </a:r>
          </a:p>
          <a:p>
            <a:endParaRPr/>
          </a:p>
          <a:p>
            <a:r>
              <a:t>Ou seja, tentamos evitar que a regra de negócio ficasse escondida apenas dentro do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final, entregamos um MVP com dez módulos de negócio.</a:t>
            </a:r>
          </a:p>
          <a:p>
            <a:endParaRPr/>
          </a:p>
          <a:p>
            <a:r>
              <a:t>Dez features especificadas e implementadas.</a:t>
            </a:r>
          </a:p>
          <a:p>
            <a:endParaRPr/>
          </a:p>
          <a:p>
            <a:r>
              <a:t>Dez tipos de eventos de domínio.</a:t>
            </a:r>
          </a:p>
          <a:p>
            <a:endParaRPr/>
          </a:p>
          <a:p>
            <a:r>
              <a:t>Dezesseis recursos REST sob /api/v1.</a:t>
            </a:r>
          </a:p>
          <a:p>
            <a:endParaRPr/>
          </a:p>
          <a:p>
            <a:r>
              <a:t>Quatrocentos e vinte e dois testes automatizados.</a:t>
            </a:r>
          </a:p>
          <a:p>
            <a:endParaRPr/>
          </a:p>
          <a:p>
            <a:r>
              <a:t>Oitenta e um por cento de cobertura em domínio e aplicação.</a:t>
            </a:r>
          </a:p>
          <a:p>
            <a:endParaRPr/>
          </a:p>
          <a:p>
            <a:r>
              <a:t>E o fluxo foi validado ponta a ponta utilizando PostgreSQL e Kafka reais dentro do Docker Compose.</a:t>
            </a:r>
          </a:p>
          <a:p>
            <a:endParaRPr/>
          </a:p>
          <a:p>
            <a:r>
              <a:t>Aqui vale uma pausa especial nos 422 testes automatizados.</a:t>
            </a:r>
          </a:p>
          <a:p>
            <a:endParaRPr/>
          </a:p>
          <a:p>
            <a:r>
              <a:t>Esse número é importante porque mostra uma evidência objetiva de engenharia.</a:t>
            </a:r>
          </a:p>
          <a:p>
            <a:endParaRPr/>
          </a:p>
          <a:p>
            <a:r>
              <a:t>Não é apenas uma alegação de que o sistema foi bem estruturado.</a:t>
            </a:r>
          </a:p>
          <a:p>
            <a:endParaRPr/>
          </a:p>
          <a:p>
            <a:r>
              <a:t>Nós verificamos regras de domínio, casos de uso, autorização negativa, eventos, fronteiras de módulo e integração com infraestrutura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Mas tecnologia não é o resultado final.</a:t>
            </a:r>
          </a:p>
          <a:p>
            <a:endParaRPr/>
          </a:p>
          <a:p>
            <a:r>
              <a:t>Para o paciente, o resultado é conseguir acompanhar sua jornada e saber quando um exame, parecer, receita ou documento está disponível.</a:t>
            </a:r>
          </a:p>
          <a:p>
            <a:endParaRPr/>
          </a:p>
          <a:p>
            <a:r>
              <a:t>Para o profissional, é ter mais rapidamente o contexto necessário para continuar o atendimento.</a:t>
            </a:r>
          </a:p>
          <a:p>
            <a:endParaRPr/>
          </a:p>
          <a:p>
            <a:r>
              <a:t>Para a unidade de saúde, significa reduzir retrabalho e padronizar etapas do processo.</a:t>
            </a:r>
          </a:p>
          <a:p>
            <a:endParaRPr/>
          </a:p>
          <a:p>
            <a:r>
              <a:t>O que estamos centralizando não é simplesmente dado.</a:t>
            </a:r>
          </a:p>
          <a:p>
            <a:endParaRPr/>
          </a:p>
          <a:p>
            <a:r>
              <a:t>É contexto.</a:t>
            </a:r>
          </a:p>
          <a:p>
            <a:endParaRPr/>
          </a:p>
          <a:p>
            <a:r>
              <a:t>Ao mesmo tempo, é importante não vender como pronto aquilo que ainda é evolução.</a:t>
            </a:r>
          </a:p>
          <a:p>
            <a:endParaRPr/>
          </a:p>
          <a:p>
            <a:r>
              <a:t>Deliberadamente deixamos algumas funcionalidades fora deste MVP.</a:t>
            </a:r>
          </a:p>
          <a:p>
            <a:endParaRPr/>
          </a:p>
          <a:p>
            <a:r>
              <a:t>Ainda não implementamos telemedicina, aplicativo mobile, assinatura digital ou integração com sistemas oficiais do SUS.</a:t>
            </a:r>
          </a:p>
          <a:p>
            <a:endParaRPr/>
          </a:p>
          <a:p>
            <a:r>
              <a:t>O próximo passo natural seria colocar interfaces web ou mobile sobre essa base e avançar na interoperabilidade com sistemas reais de saúde.</a:t>
            </a:r>
          </a:p>
          <a:p>
            <a:endParaRPr/>
          </a:p>
          <a:p>
            <a:r>
              <a:t>Isso transmite maturidade: o MVP demonstra a fundação, e os próximos passos mostram para onde essa fundação pode evoluir.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No </a:t>
            </a:r>
            <a:r>
              <a:rPr dirty="0" err="1"/>
              <a:t>início</a:t>
            </a:r>
            <a:r>
              <a:rPr dirty="0"/>
              <a:t> </a:t>
            </a:r>
            <a:r>
              <a:rPr dirty="0" err="1"/>
              <a:t>nós</a:t>
            </a:r>
            <a:r>
              <a:rPr dirty="0"/>
              <a:t> </a:t>
            </a:r>
            <a:r>
              <a:rPr dirty="0" err="1"/>
              <a:t>fizemos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: e se </a:t>
            </a:r>
            <a:r>
              <a:rPr dirty="0" err="1"/>
              <a:t>toda</a:t>
            </a:r>
            <a:r>
              <a:rPr dirty="0"/>
              <a:t> a jornada do </a:t>
            </a:r>
            <a:r>
              <a:rPr dirty="0" err="1"/>
              <a:t>paciente</a:t>
            </a:r>
            <a:r>
              <a:rPr dirty="0"/>
              <a:t> </a:t>
            </a:r>
            <a:r>
              <a:rPr dirty="0" err="1"/>
              <a:t>pudesse</a:t>
            </a:r>
            <a:r>
              <a:rPr dirty="0"/>
              <a:t> ser </a:t>
            </a:r>
            <a:r>
              <a:rPr dirty="0" err="1"/>
              <a:t>acompanhada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história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Foi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tentamos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Uma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consulta, </a:t>
            </a:r>
            <a:r>
              <a:rPr dirty="0" err="1"/>
              <a:t>exame</a:t>
            </a:r>
            <a:r>
              <a:rPr dirty="0"/>
              <a:t>, </a:t>
            </a:r>
            <a:r>
              <a:rPr dirty="0" err="1"/>
              <a:t>resultado</a:t>
            </a:r>
            <a:r>
              <a:rPr dirty="0"/>
              <a:t>, </a:t>
            </a:r>
            <a:r>
              <a:rPr dirty="0" err="1"/>
              <a:t>decisão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e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sejam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isolados</a:t>
            </a:r>
            <a:r>
              <a:rPr dirty="0"/>
              <a:t>, mas partes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mesma</a:t>
            </a:r>
            <a:r>
              <a:rPr dirty="0"/>
              <a:t> jornada.</a:t>
            </a:r>
          </a:p>
          <a:p>
            <a:endParaRPr dirty="0"/>
          </a:p>
          <a:p>
            <a:r>
              <a:rPr dirty="0" err="1"/>
              <a:t>Fizemos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com </a:t>
            </a:r>
            <a:r>
              <a:rPr dirty="0" err="1"/>
              <a:t>segurança</a:t>
            </a:r>
            <a:r>
              <a:rPr dirty="0"/>
              <a:t>, </a:t>
            </a:r>
            <a:r>
              <a:rPr dirty="0" err="1"/>
              <a:t>rastreabilidade</a:t>
            </a:r>
            <a:r>
              <a:rPr dirty="0"/>
              <a:t>, </a:t>
            </a:r>
            <a:r>
              <a:rPr dirty="0" err="1"/>
              <a:t>arquitetura</a:t>
            </a:r>
            <a:r>
              <a:rPr dirty="0"/>
              <a:t> modular e </a:t>
            </a:r>
            <a:r>
              <a:rPr dirty="0" err="1"/>
              <a:t>uma</a:t>
            </a:r>
            <a:r>
              <a:rPr dirty="0"/>
              <a:t> base </a:t>
            </a:r>
            <a:r>
              <a:rPr dirty="0" err="1"/>
              <a:t>preparada</a:t>
            </a:r>
            <a:r>
              <a:rPr dirty="0"/>
              <a:t> para </a:t>
            </a:r>
            <a:r>
              <a:rPr dirty="0" err="1"/>
              <a:t>evoluir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Se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tivesse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resumir</a:t>
            </a:r>
            <a:r>
              <a:rPr dirty="0"/>
              <a:t> a </a:t>
            </a:r>
            <a:r>
              <a:rPr dirty="0" err="1"/>
              <a:t>história</a:t>
            </a:r>
            <a:r>
              <a:rPr dirty="0"/>
              <a:t> </a:t>
            </a:r>
            <a:r>
              <a:rPr dirty="0" err="1"/>
              <a:t>inteira</a:t>
            </a:r>
            <a:r>
              <a:rPr dirty="0"/>
              <a:t>, seria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sequência</a:t>
            </a:r>
            <a:r>
              <a:rPr dirty="0"/>
              <a:t>:</a:t>
            </a:r>
          </a:p>
          <a:p>
            <a:endParaRPr dirty="0"/>
          </a:p>
          <a:p>
            <a:r>
              <a:rPr dirty="0" err="1"/>
              <a:t>Paciente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Fragmentação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Jornada.</a:t>
            </a:r>
          </a:p>
          <a:p>
            <a:endParaRPr dirty="0"/>
          </a:p>
          <a:p>
            <a:r>
              <a:rPr dirty="0"/>
              <a:t>Plataforma.</a:t>
            </a:r>
          </a:p>
          <a:p>
            <a:endParaRPr dirty="0"/>
          </a:p>
          <a:p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separado</a:t>
            </a:r>
            <a:r>
              <a:rPr dirty="0"/>
              <a:t> do </a:t>
            </a:r>
            <a:r>
              <a:rPr dirty="0" err="1"/>
              <a:t>parecer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Histórico.</a:t>
            </a:r>
          </a:p>
          <a:p>
            <a:endParaRPr dirty="0"/>
          </a:p>
          <a:p>
            <a:r>
              <a:rPr dirty="0" err="1"/>
              <a:t>Segurança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Arquitetura</a:t>
            </a:r>
            <a:r>
              <a:rPr dirty="0"/>
              <a:t> modular.</a:t>
            </a:r>
          </a:p>
          <a:p>
            <a:endParaRPr dirty="0"/>
          </a:p>
          <a:p>
            <a:r>
              <a:rPr dirty="0" err="1"/>
              <a:t>Eventos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Evidências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Impacto.</a:t>
            </a:r>
          </a:p>
          <a:p>
            <a:endParaRPr dirty="0"/>
          </a:p>
          <a:p>
            <a:r>
              <a:rPr dirty="0"/>
              <a:t>As </a:t>
            </a:r>
            <a:r>
              <a:rPr dirty="0" err="1"/>
              <a:t>tecnologias</a:t>
            </a:r>
            <a:r>
              <a:rPr dirty="0"/>
              <a:t> </a:t>
            </a:r>
            <a:r>
              <a:rPr dirty="0" err="1"/>
              <a:t>sustentam</a:t>
            </a:r>
            <a:r>
              <a:rPr dirty="0"/>
              <a:t> a </a:t>
            </a:r>
            <a:r>
              <a:rPr dirty="0" err="1"/>
              <a:t>solução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Elas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a </a:t>
            </a:r>
            <a:r>
              <a:rPr dirty="0" err="1"/>
              <a:t>solução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Essa é a Plataforma Digital de </a:t>
            </a:r>
            <a:r>
              <a:rPr dirty="0" err="1"/>
              <a:t>Atendimento</a:t>
            </a:r>
            <a:r>
              <a:rPr dirty="0"/>
              <a:t> SUS, do Grupo 32.</a:t>
            </a:r>
          </a:p>
          <a:p>
            <a:br>
              <a:rPr lang="pt-BR" dirty="0"/>
            </a:br>
            <a:r>
              <a:rPr lang="pt-BR" dirty="0"/>
              <a:t>O paciente não precisa mais perseguir o próprio atendimento: a plataforma o acompanha, avisa a cada passo e guarda cada decisão com nome e data, num sistema que continua funcionando mesmo quando uma parte falha. </a:t>
            </a:r>
            <a:r>
              <a:rPr lang="pt-BR"/>
              <a:t>Isso é o que entendemos por saúde pública digital: menos deslocamento, mais continuidade e confiança em cada registro.</a:t>
            </a:r>
            <a:br>
              <a:rPr lang="pt-BR"/>
            </a:br>
            <a:endParaRPr dirty="0"/>
          </a:p>
          <a:p>
            <a:r>
              <a:rPr dirty="0" err="1"/>
              <a:t>Obrigado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Depois</a:t>
            </a:r>
            <a:r>
              <a:rPr dirty="0"/>
              <a:t> </a:t>
            </a:r>
            <a:r>
              <a:rPr dirty="0" err="1"/>
              <a:t>disso</a:t>
            </a:r>
            <a:r>
              <a:rPr dirty="0"/>
              <a:t>, </a:t>
            </a:r>
            <a:r>
              <a:rPr dirty="0" err="1"/>
              <a:t>faça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segundos</a:t>
            </a:r>
            <a:r>
              <a:rPr dirty="0"/>
              <a:t> de </a:t>
            </a:r>
            <a:r>
              <a:rPr dirty="0" err="1"/>
              <a:t>silêncio</a:t>
            </a:r>
            <a:r>
              <a:rPr dirty="0"/>
              <a:t> antes de </a:t>
            </a:r>
            <a:r>
              <a:rPr dirty="0" err="1"/>
              <a:t>encerrar</a:t>
            </a:r>
            <a:r>
              <a:rPr dirty="0"/>
              <a:t> a </a:t>
            </a:r>
            <a:r>
              <a:rPr dirty="0" err="1"/>
              <a:t>gravação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3D16C41A-9D08-4495-B808-ECFC7809C8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A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16CE5A2-7D97-4175-8874-C9C91238247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6191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Plataforma Digital de</a:t>
            </a:r>
          </a:p>
          <a:p>
            <a:pPr algn="l">
              <a:lnSpc>
                <a:spcPct val="95000"/>
              </a:lnSpc>
              <a:buNone/>
              <a:defRPr sz="32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Atendimento SUS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513DF1-0622-4C2F-AEAB-F0130E3E3EF1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Uma jornada contínua do paciente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77D0E7-C30E-418A-95C2-986F2E519FFB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Hackathon FIAP - Grupo 32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A0F2C00-0F70-4C9C-997F-78C6098B64A5}"/>
              </a:ext>
            </a:extLst>
          </p:cNvPr>
          <p:cNvSpPr>
            <a:spLocks noGrp="1"/>
          </p:cNvSpPr>
          <p:nvPr/>
        </p:nvSpPr>
        <p:spPr>
          <a:xfrm>
            <a:off x="7239000" y="838200"/>
            <a:ext cx="3657600" cy="409575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4E5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C367111-6583-4E40-90D9-4B0BD74B4804}"/>
              </a:ext>
            </a:extLst>
          </p:cNvPr>
          <p:cNvSpPr>
            <a:spLocks noGrp="1"/>
          </p:cNvSpPr>
          <p:nvPr/>
        </p:nvSpPr>
        <p:spPr>
          <a:xfrm>
            <a:off x="7524750" y="1200150"/>
            <a:ext cx="30956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7040" lnSpcReduction="10000"/>
          </a:bodyPr>
          <a:lstStyle/>
          <a:p>
            <a:pPr algn="ctr">
              <a:lnSpc>
                <a:spcPct val="105000"/>
              </a:lnSpc>
              <a:buNone/>
              <a:defRPr sz="19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 se toda a jornada pudesse ser acompanhada como uma única história?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192FE8-9BD4-4C08-86A8-8EC8340575A8}"/>
              </a:ext>
            </a:extLst>
          </p:cNvPr>
          <p:cNvSpPr>
            <a:spLocks noGrp="1"/>
          </p:cNvSpPr>
          <p:nvPr/>
        </p:nvSpPr>
        <p:spPr>
          <a:xfrm>
            <a:off x="7896225" y="2762250"/>
            <a:ext cx="2324100" cy="38100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6C66FC9-BCA2-4587-98C7-C622CEBD49D4}"/>
              </a:ext>
            </a:extLst>
          </p:cNvPr>
          <p:cNvSpPr>
            <a:spLocks noGrp="1"/>
          </p:cNvSpPr>
          <p:nvPr/>
        </p:nvSpPr>
        <p:spPr>
          <a:xfrm>
            <a:off x="7772400" y="26479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DFBA44F-47C0-4642-8415-3BB11187E607}"/>
              </a:ext>
            </a:extLst>
          </p:cNvPr>
          <p:cNvSpPr>
            <a:spLocks noGrp="1"/>
          </p:cNvSpPr>
          <p:nvPr/>
        </p:nvSpPr>
        <p:spPr>
          <a:xfrm>
            <a:off x="7772400" y="27051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B64A487-5D7B-4622-AACE-CCB20AEB982D}"/>
              </a:ext>
            </a:extLst>
          </p:cNvPr>
          <p:cNvSpPr>
            <a:spLocks noGrp="1"/>
          </p:cNvSpPr>
          <p:nvPr/>
        </p:nvSpPr>
        <p:spPr>
          <a:xfrm>
            <a:off x="7248525" y="31242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C702CE1-52C1-41FF-9AF4-339D1B1CFC9C}"/>
              </a:ext>
            </a:extLst>
          </p:cNvPr>
          <p:cNvSpPr>
            <a:spLocks noGrp="1"/>
          </p:cNvSpPr>
          <p:nvPr/>
        </p:nvSpPr>
        <p:spPr>
          <a:xfrm>
            <a:off x="8415338" y="26479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79F5E3D-FB8F-4BC3-A6EC-E6C3A90F2142}"/>
              </a:ext>
            </a:extLst>
          </p:cNvPr>
          <p:cNvSpPr>
            <a:spLocks noGrp="1"/>
          </p:cNvSpPr>
          <p:nvPr/>
        </p:nvSpPr>
        <p:spPr>
          <a:xfrm>
            <a:off x="8415338" y="27051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F5D92F5-E899-457F-9EC5-2E0A90BCCA7E}"/>
              </a:ext>
            </a:extLst>
          </p:cNvPr>
          <p:cNvSpPr>
            <a:spLocks noGrp="1"/>
          </p:cNvSpPr>
          <p:nvPr/>
        </p:nvSpPr>
        <p:spPr>
          <a:xfrm>
            <a:off x="7891463" y="31242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Exame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247D799-03C4-4D24-9A28-49AD342A28D9}"/>
              </a:ext>
            </a:extLst>
          </p:cNvPr>
          <p:cNvSpPr>
            <a:spLocks noGrp="1"/>
          </p:cNvSpPr>
          <p:nvPr/>
        </p:nvSpPr>
        <p:spPr>
          <a:xfrm>
            <a:off x="9058275" y="26479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8D35E11-8134-4532-A9CA-10BD5F7D3334}"/>
              </a:ext>
            </a:extLst>
          </p:cNvPr>
          <p:cNvSpPr>
            <a:spLocks noGrp="1"/>
          </p:cNvSpPr>
          <p:nvPr/>
        </p:nvSpPr>
        <p:spPr>
          <a:xfrm>
            <a:off x="9058275" y="27051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2D9C622-450B-453E-8E0E-EAA86AD60205}"/>
              </a:ext>
            </a:extLst>
          </p:cNvPr>
          <p:cNvSpPr>
            <a:spLocks noGrp="1"/>
          </p:cNvSpPr>
          <p:nvPr/>
        </p:nvSpPr>
        <p:spPr>
          <a:xfrm>
            <a:off x="8534400" y="31242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81FD047-DE62-4FDB-8A23-87A78A7FCB9F}"/>
              </a:ext>
            </a:extLst>
          </p:cNvPr>
          <p:cNvSpPr>
            <a:spLocks noGrp="1"/>
          </p:cNvSpPr>
          <p:nvPr/>
        </p:nvSpPr>
        <p:spPr>
          <a:xfrm>
            <a:off x="9701213" y="26479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266EC0B-D25F-4FAE-9D93-E066A94F09CC}"/>
              </a:ext>
            </a:extLst>
          </p:cNvPr>
          <p:cNvSpPr>
            <a:spLocks noGrp="1"/>
          </p:cNvSpPr>
          <p:nvPr/>
        </p:nvSpPr>
        <p:spPr>
          <a:xfrm>
            <a:off x="9701213" y="27051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4D4E742-D6F5-491B-80FD-2280038BD6E9}"/>
              </a:ext>
            </a:extLst>
          </p:cNvPr>
          <p:cNvSpPr>
            <a:spLocks noGrp="1"/>
          </p:cNvSpPr>
          <p:nvPr/>
        </p:nvSpPr>
        <p:spPr>
          <a:xfrm>
            <a:off x="9177338" y="31242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Parecer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5BF8A85-E923-41E8-A289-446791CD120F}"/>
              </a:ext>
            </a:extLst>
          </p:cNvPr>
          <p:cNvSpPr>
            <a:spLocks noGrp="1"/>
          </p:cNvSpPr>
          <p:nvPr/>
        </p:nvSpPr>
        <p:spPr>
          <a:xfrm>
            <a:off x="10344150" y="26479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F99C1A6-E6BB-48D3-99C7-6394FD1A19A7}"/>
              </a:ext>
            </a:extLst>
          </p:cNvPr>
          <p:cNvSpPr>
            <a:spLocks noGrp="1"/>
          </p:cNvSpPr>
          <p:nvPr/>
        </p:nvSpPr>
        <p:spPr>
          <a:xfrm>
            <a:off x="10344150" y="27051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A9A1AD5-E05E-4DB5-8DFA-CB48D06CFFCD}"/>
              </a:ext>
            </a:extLst>
          </p:cNvPr>
          <p:cNvSpPr>
            <a:spLocks noGrp="1"/>
          </p:cNvSpPr>
          <p:nvPr/>
        </p:nvSpPr>
        <p:spPr>
          <a:xfrm>
            <a:off x="9820275" y="31242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2AFD2C3-ABF2-4F88-A29A-C8CF88E3664F}"/>
              </a:ext>
            </a:extLst>
          </p:cNvPr>
          <p:cNvSpPr>
            <a:spLocks noGrp="1"/>
          </p:cNvSpPr>
          <p:nvPr/>
        </p:nvSpPr>
        <p:spPr>
          <a:xfrm>
            <a:off x="8334375" y="4143375"/>
            <a:ext cx="1571625" cy="457200"/>
          </a:xfrm>
          <a:prstGeom prst="roundRect">
            <a:avLst>
              <a:gd name="adj" fmla="val 29167"/>
            </a:avLst>
          </a:prstGeom>
          <a:solidFill>
            <a:srgbClr val="EAF7F0"/>
          </a:solidFill>
          <a:ln w="9525">
            <a:solidFill>
              <a:srgbClr val="BDE8C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762B813-99E6-4012-B30B-0FE8BE2F8E89}"/>
              </a:ext>
            </a:extLst>
          </p:cNvPr>
          <p:cNvSpPr>
            <a:spLocks noGrp="1"/>
          </p:cNvSpPr>
          <p:nvPr/>
        </p:nvSpPr>
        <p:spPr>
          <a:xfrm>
            <a:off x="8496300" y="42672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697" lnSpcReduction="20000"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9A96B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EB4594E-8B7E-4308-95CE-FD25B8078B89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EC1FA841-2EC7-428A-8A2E-197FF46CCDB0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DED12AB-978D-4CD7-A961-E467FA4697B1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BCADA34-2854-418E-AFEA-2C8DBFBE2B08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9D842DFE-8EE1-4F73-9BF8-41AE39B2DBFE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97E9F299-C479-4CF0-A928-67619A7217D2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2605099-A0E6-4A0D-98AF-170B88751CE4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5965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B1C0F0A9-7323-4711-A7CF-C76281FFA9E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Equipe e responsabilidades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E1BD0EA-E014-40EB-B506-E75B6FFBD433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Funções do time e frentes do MVP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F533A8-C156-4026-81CE-AD486BC3731C}"/>
              </a:ext>
            </a:extLst>
          </p:cNvPr>
          <p:cNvSpPr>
            <a:spLocks noGrp="1"/>
          </p:cNvSpPr>
          <p:nvPr/>
        </p:nvSpPr>
        <p:spPr>
          <a:xfrm>
            <a:off x="6076950" y="2324100"/>
            <a:ext cx="28575" cy="495300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825C04-6828-4A73-B3DB-FCFBB234BE04}"/>
              </a:ext>
            </a:extLst>
          </p:cNvPr>
          <p:cNvSpPr>
            <a:spLocks noGrp="1"/>
          </p:cNvSpPr>
          <p:nvPr/>
        </p:nvSpPr>
        <p:spPr>
          <a:xfrm>
            <a:off x="3600450" y="2800350"/>
            <a:ext cx="4953000" cy="28575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E95A83-12F3-402B-908D-B94EC74C9E3A}"/>
              </a:ext>
            </a:extLst>
          </p:cNvPr>
          <p:cNvSpPr>
            <a:spLocks noGrp="1"/>
          </p:cNvSpPr>
          <p:nvPr/>
        </p:nvSpPr>
        <p:spPr>
          <a:xfrm>
            <a:off x="3600450" y="2800350"/>
            <a:ext cx="28575" cy="361950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8ED7B55-C38E-48FB-8DC5-9AEF34FB14F2}"/>
              </a:ext>
            </a:extLst>
          </p:cNvPr>
          <p:cNvSpPr>
            <a:spLocks noGrp="1"/>
          </p:cNvSpPr>
          <p:nvPr/>
        </p:nvSpPr>
        <p:spPr>
          <a:xfrm>
            <a:off x="8553450" y="2800350"/>
            <a:ext cx="28575" cy="361950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FE04A69-72D1-4D06-9779-94CC4D06AA41}"/>
              </a:ext>
            </a:extLst>
          </p:cNvPr>
          <p:cNvSpPr>
            <a:spLocks noGrp="1"/>
          </p:cNvSpPr>
          <p:nvPr/>
        </p:nvSpPr>
        <p:spPr>
          <a:xfrm>
            <a:off x="3600450" y="4305300"/>
            <a:ext cx="28575" cy="381000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C339BF-44C9-48ED-B893-D310D765C773}"/>
              </a:ext>
            </a:extLst>
          </p:cNvPr>
          <p:cNvSpPr>
            <a:spLocks noGrp="1"/>
          </p:cNvSpPr>
          <p:nvPr/>
        </p:nvSpPr>
        <p:spPr>
          <a:xfrm>
            <a:off x="1600200" y="4686300"/>
            <a:ext cx="4286250" cy="28575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D3B200B-370C-44CC-ABA7-5CC540685CEF}"/>
              </a:ext>
            </a:extLst>
          </p:cNvPr>
          <p:cNvSpPr>
            <a:spLocks noGrp="1"/>
          </p:cNvSpPr>
          <p:nvPr/>
        </p:nvSpPr>
        <p:spPr>
          <a:xfrm>
            <a:off x="1600200" y="4686300"/>
            <a:ext cx="28575" cy="285750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C1E2FF2-ED6A-42E7-84E1-54FDDC1F644E}"/>
              </a:ext>
            </a:extLst>
          </p:cNvPr>
          <p:cNvSpPr>
            <a:spLocks noGrp="1"/>
          </p:cNvSpPr>
          <p:nvPr/>
        </p:nvSpPr>
        <p:spPr>
          <a:xfrm>
            <a:off x="5886450" y="4686300"/>
            <a:ext cx="28575" cy="285750"/>
          </a:xfrm>
          <a:prstGeom prst="rect">
            <a:avLst/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9E90EEB-1751-4AF3-A33D-90284D5214C0}"/>
              </a:ext>
            </a:extLst>
          </p:cNvPr>
          <p:cNvSpPr>
            <a:spLocks noGrp="1"/>
          </p:cNvSpPr>
          <p:nvPr/>
        </p:nvSpPr>
        <p:spPr>
          <a:xfrm>
            <a:off x="5419725" y="1114425"/>
            <a:ext cx="1295400" cy="1295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59E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m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7350" y="1143000"/>
            <a:ext cx="1200150" cy="1200150"/>
          </a:xfrm>
          <a:prstGeom prst="ellipse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B869F22A-83EF-4498-A703-AD0F2C792840}"/>
              </a:ext>
            </a:extLst>
          </p:cNvPr>
          <p:cNvSpPr>
            <a:spLocks noGrp="1"/>
          </p:cNvSpPr>
          <p:nvPr/>
        </p:nvSpPr>
        <p:spPr>
          <a:xfrm>
            <a:off x="6896100" y="1409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644" lnSpcReduction="10000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75" b="1" i="0" dirty="0">
                <a:solidFill>
                  <a:srgbClr val="123B5D"/>
                </a:solidFill>
                <a:latin typeface="Aptos"/>
                <a:ea typeface="Aptos"/>
                <a:cs typeface="Aptos"/>
              </a:rPr>
              <a:t>Danilo F</a:t>
            </a:r>
            <a:r>
              <a:rPr lang="pt-BR" sz="1575" b="1" i="0" dirty="0" err="1">
                <a:solidFill>
                  <a:srgbClr val="123B5D"/>
                </a:solidFill>
                <a:latin typeface="Aptos"/>
                <a:ea typeface="Aptos"/>
                <a:cs typeface="Aptos"/>
              </a:rPr>
              <a:t>ernando</a:t>
            </a:r>
            <a:endParaRPr sz="1575" b="1" i="0" dirty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4EB260F-3629-483A-A2FB-0CDB32DB2865}"/>
              </a:ext>
            </a:extLst>
          </p:cNvPr>
          <p:cNvSpPr>
            <a:spLocks noGrp="1"/>
          </p:cNvSpPr>
          <p:nvPr/>
        </p:nvSpPr>
        <p:spPr>
          <a:xfrm>
            <a:off x="6896100" y="1752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Gerente de Sistemas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600F5AA-FAE6-42C6-9322-B18A089C6185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Notificações, histórico e Kafka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02E6C8C-ADAA-4F06-8EB9-8E27C33D4EFB}"/>
              </a:ext>
            </a:extLst>
          </p:cNvPr>
          <p:cNvSpPr>
            <a:spLocks noGrp="1"/>
          </p:cNvSpPr>
          <p:nvPr/>
        </p:nvSpPr>
        <p:spPr>
          <a:xfrm>
            <a:off x="2847975" y="3095625"/>
            <a:ext cx="1219200" cy="1219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9" name="Imagem 5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95600" y="3143250"/>
            <a:ext cx="1123950" cy="1123950"/>
          </a:xfrm>
          <a:prstGeom prst="ellipse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B00AC94F-6F3D-4353-A3D7-F6240A5E3F12}"/>
              </a:ext>
            </a:extLst>
          </p:cNvPr>
          <p:cNvSpPr>
            <a:spLocks noGrp="1"/>
          </p:cNvSpPr>
          <p:nvPr/>
        </p:nvSpPr>
        <p:spPr>
          <a:xfrm>
            <a:off x="4248150" y="32956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Luis Henrique S. Borges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58DC2BF-326A-4E84-AB87-172A4B80A599}"/>
              </a:ext>
            </a:extLst>
          </p:cNvPr>
          <p:cNvSpPr>
            <a:spLocks noGrp="1"/>
          </p:cNvSpPr>
          <p:nvPr/>
        </p:nvSpPr>
        <p:spPr>
          <a:xfrm>
            <a:off x="4248150" y="3790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 Lead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CCF71B8-C9E4-4239-8F7A-85D5BA9F4C50}"/>
              </a:ext>
            </a:extLst>
          </p:cNvPr>
          <p:cNvSpPr>
            <a:spLocks noGrp="1"/>
          </p:cNvSpPr>
          <p:nvPr/>
        </p:nvSpPr>
        <p:spPr>
          <a:xfrm>
            <a:off x="4248150" y="4095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Arquitetura, segurança e IAM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F731379-A9C4-4DBF-99EA-746511CBEEBE}"/>
              </a:ext>
            </a:extLst>
          </p:cNvPr>
          <p:cNvSpPr>
            <a:spLocks noGrp="1"/>
          </p:cNvSpPr>
          <p:nvPr/>
        </p:nvSpPr>
        <p:spPr>
          <a:xfrm>
            <a:off x="6867525" y="3095625"/>
            <a:ext cx="1219200" cy="1219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4" name="Imagem 6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15150" y="3143250"/>
            <a:ext cx="1123950" cy="1123950"/>
          </a:xfrm>
          <a:prstGeom prst="ellipse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918CCE08-BC4D-43B9-B7D3-D42E853E8A4B}"/>
              </a:ext>
            </a:extLst>
          </p:cNvPr>
          <p:cNvSpPr>
            <a:spLocks noGrp="1"/>
          </p:cNvSpPr>
          <p:nvPr/>
        </p:nvSpPr>
        <p:spPr>
          <a:xfrm>
            <a:off x="8248650" y="3333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Gilmar da Costa M. Junior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2EF1A1F-E26B-46AB-B43C-DF25BB1668FC}"/>
              </a:ext>
            </a:extLst>
          </p:cNvPr>
          <p:cNvSpPr>
            <a:spLocks noGrp="1"/>
          </p:cNvSpPr>
          <p:nvPr/>
        </p:nvSpPr>
        <p:spPr>
          <a:xfrm>
            <a:off x="8248650" y="36766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Product Owner (PO)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3398235-7D93-45C6-B4AE-3D094A39B200}"/>
              </a:ext>
            </a:extLst>
          </p:cNvPr>
          <p:cNvSpPr>
            <a:spLocks noGrp="1"/>
          </p:cNvSpPr>
          <p:nvPr/>
        </p:nvSpPr>
        <p:spPr>
          <a:xfrm>
            <a:off x="8248650" y="3981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Infraestrutura, PostgreSQL e Flyway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09AF1D9-0F30-4503-AC8A-1FBB968DA3FF}"/>
              </a:ext>
            </a:extLst>
          </p:cNvPr>
          <p:cNvSpPr>
            <a:spLocks noGrp="1"/>
          </p:cNvSpPr>
          <p:nvPr/>
        </p:nvSpPr>
        <p:spPr>
          <a:xfrm>
            <a:off x="904875" y="4924425"/>
            <a:ext cx="1123950" cy="1123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9A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9" name="Imagem 6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4972050"/>
            <a:ext cx="1028700" cy="1028700"/>
          </a:xfrm>
          <a:prstGeom prst="ellipse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11EE2432-1BD0-415C-A3C8-29E64446F343}"/>
              </a:ext>
            </a:extLst>
          </p:cNvPr>
          <p:cNvSpPr>
            <a:spLocks noGrp="1"/>
          </p:cNvSpPr>
          <p:nvPr/>
        </p:nvSpPr>
        <p:spPr>
          <a:xfrm>
            <a:off x="2190750" y="521970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Thiago de Jesus Cordeiro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5914CDD-DAAE-463B-982B-37C49DF406F6}"/>
              </a:ext>
            </a:extLst>
          </p:cNvPr>
          <p:cNvSpPr>
            <a:spLocks noGrp="1"/>
          </p:cNvSpPr>
          <p:nvPr/>
        </p:nvSpPr>
        <p:spPr>
          <a:xfrm>
            <a:off x="2190750" y="55626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8047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8AB08CF-78AB-4362-89DD-79E128D2C74E}"/>
              </a:ext>
            </a:extLst>
          </p:cNvPr>
          <p:cNvSpPr>
            <a:spLocks noGrp="1"/>
          </p:cNvSpPr>
          <p:nvPr/>
        </p:nvSpPr>
        <p:spPr>
          <a:xfrm>
            <a:off x="2190750" y="58483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Consultas, exames e resultados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76C0C8C-E419-4E3E-9050-7370F59AAACC}"/>
              </a:ext>
            </a:extLst>
          </p:cNvPr>
          <p:cNvSpPr>
            <a:spLocks noGrp="1"/>
          </p:cNvSpPr>
          <p:nvPr/>
        </p:nvSpPr>
        <p:spPr>
          <a:xfrm>
            <a:off x="5191125" y="4924425"/>
            <a:ext cx="1123950" cy="1123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9A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4" name="Imagem 7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238750" y="4972050"/>
            <a:ext cx="1028700" cy="1028700"/>
          </a:xfrm>
          <a:prstGeom prst="ellipse">
            <a:avLst/>
          </a:prstGeom>
        </p:spPr>
      </p:pic>
      <p:sp>
        <p:nvSpPr>
          <p:cNvPr id="33" name="Retângulo 32">
            <a:extLst>
              <a:ext uri="{FF2B5EF4-FFF2-40B4-BE49-F238E27FC236}">
                <a16:creationId xmlns:a16="http://schemas.microsoft.com/office/drawing/2014/main" id="{8D284072-657A-45B7-B436-C86ADCF1BD35}"/>
              </a:ext>
            </a:extLst>
          </p:cNvPr>
          <p:cNvSpPr>
            <a:spLocks noGrp="1"/>
          </p:cNvSpPr>
          <p:nvPr/>
        </p:nvSpPr>
        <p:spPr>
          <a:xfrm>
            <a:off x="6477000" y="52197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1042" lnSpcReduction="10000"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Juliana Olio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7ACFDB5-B4BC-4FE5-B1A5-2D4AA0AE31C1}"/>
              </a:ext>
            </a:extLst>
          </p:cNvPr>
          <p:cNvSpPr>
            <a:spLocks noGrp="1"/>
          </p:cNvSpPr>
          <p:nvPr/>
        </p:nvSpPr>
        <p:spPr>
          <a:xfrm>
            <a:off x="6477000" y="55626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8047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1BA6293-7849-4D1B-B19C-38714B0EFD6A}"/>
              </a:ext>
            </a:extLst>
          </p:cNvPr>
          <p:cNvSpPr>
            <a:spLocks noGrp="1"/>
          </p:cNvSpPr>
          <p:nvPr/>
        </p:nvSpPr>
        <p:spPr>
          <a:xfrm>
            <a:off x="6477000" y="58483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Pareceres, documentos e qualidade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C7B4FA1-B2FE-4FFA-906B-7D839AD1BFD8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E183F6F9-28FE-4DD2-A075-17B5481DF532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D11B1B7F-FF8D-461A-9073-C02EE833E580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54EE127-C9A1-4276-BADA-2C7E6F0BC875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C6AF835-8B0C-449D-BD0B-41A6E9DFB7A7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CEE4E3DC-C3C4-4B20-AA9A-5706157B9712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5D55F72-AAE6-4EC7-BA21-023A708316B5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227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32238B66-C9D8-4485-8B88-3CD40955D0B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Jornada fragmentada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025101-173C-480D-AD20-4379C8B22D78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Informações dispersas reduzem a continuidade do cuidado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14D7C23-A5C3-40DA-9313-24FF3DC2F674}"/>
              </a:ext>
            </a:extLst>
          </p:cNvPr>
          <p:cNvSpPr>
            <a:spLocks noGrp="1"/>
          </p:cNvSpPr>
          <p:nvPr/>
        </p:nvSpPr>
        <p:spPr>
          <a:xfrm>
            <a:off x="1381125" y="24288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A15C78-9DA5-4801-A188-A6A6C692BAF8}"/>
              </a:ext>
            </a:extLst>
          </p:cNvPr>
          <p:cNvSpPr>
            <a:spLocks noGrp="1"/>
          </p:cNvSpPr>
          <p:nvPr/>
        </p:nvSpPr>
        <p:spPr>
          <a:xfrm>
            <a:off x="981075" y="309562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FD76AE-4CC0-411B-B79A-0EDDA2B07F64}"/>
              </a:ext>
            </a:extLst>
          </p:cNvPr>
          <p:cNvSpPr>
            <a:spLocks noGrp="1"/>
          </p:cNvSpPr>
          <p:nvPr/>
        </p:nvSpPr>
        <p:spPr>
          <a:xfrm>
            <a:off x="206692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456AD1-8716-4758-8D3E-0E70033B3B8F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EBB9D7-93A0-47EF-8C43-819F246E605F}"/>
              </a:ext>
            </a:extLst>
          </p:cNvPr>
          <p:cNvSpPr>
            <a:spLocks noGrp="1"/>
          </p:cNvSpPr>
          <p:nvPr/>
        </p:nvSpPr>
        <p:spPr>
          <a:xfrm>
            <a:off x="269557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272F541-B156-4A8D-81AF-AB85C1F8B6F9}"/>
              </a:ext>
            </a:extLst>
          </p:cNvPr>
          <p:cNvSpPr>
            <a:spLocks noGrp="1"/>
          </p:cNvSpPr>
          <p:nvPr/>
        </p:nvSpPr>
        <p:spPr>
          <a:xfrm>
            <a:off x="300990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0DD7F9C-18AF-4BCC-A74E-742E11C41B76}"/>
              </a:ext>
            </a:extLst>
          </p:cNvPr>
          <p:cNvSpPr>
            <a:spLocks noGrp="1"/>
          </p:cNvSpPr>
          <p:nvPr/>
        </p:nvSpPr>
        <p:spPr>
          <a:xfrm>
            <a:off x="3524250" y="24288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B0D4A90-8DC9-49AA-8DFD-50F48E4AF040}"/>
              </a:ext>
            </a:extLst>
          </p:cNvPr>
          <p:cNvSpPr>
            <a:spLocks noGrp="1"/>
          </p:cNvSpPr>
          <p:nvPr/>
        </p:nvSpPr>
        <p:spPr>
          <a:xfrm>
            <a:off x="3124200" y="309562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Exame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49D5CA2-D8DA-439A-A42A-78C5D5CEFBA4}"/>
              </a:ext>
            </a:extLst>
          </p:cNvPr>
          <p:cNvSpPr>
            <a:spLocks noGrp="1"/>
          </p:cNvSpPr>
          <p:nvPr/>
        </p:nvSpPr>
        <p:spPr>
          <a:xfrm>
            <a:off x="421005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7EEA40D-FA93-4B3D-A75D-9F9AD42995E3}"/>
              </a:ext>
            </a:extLst>
          </p:cNvPr>
          <p:cNvSpPr>
            <a:spLocks noGrp="1"/>
          </p:cNvSpPr>
          <p:nvPr/>
        </p:nvSpPr>
        <p:spPr>
          <a:xfrm>
            <a:off x="452437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EFEB375-D1AA-489F-B792-D77EC7B68C64}"/>
              </a:ext>
            </a:extLst>
          </p:cNvPr>
          <p:cNvSpPr>
            <a:spLocks noGrp="1"/>
          </p:cNvSpPr>
          <p:nvPr/>
        </p:nvSpPr>
        <p:spPr>
          <a:xfrm>
            <a:off x="483870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CB2A0F2-2CAA-4845-8A8B-ED3ED2A8EB8C}"/>
              </a:ext>
            </a:extLst>
          </p:cNvPr>
          <p:cNvSpPr>
            <a:spLocks noGrp="1"/>
          </p:cNvSpPr>
          <p:nvPr/>
        </p:nvSpPr>
        <p:spPr>
          <a:xfrm>
            <a:off x="515302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E5DA952-67F6-49F3-A7F2-7175E0ED6BC2}"/>
              </a:ext>
            </a:extLst>
          </p:cNvPr>
          <p:cNvSpPr>
            <a:spLocks noGrp="1"/>
          </p:cNvSpPr>
          <p:nvPr/>
        </p:nvSpPr>
        <p:spPr>
          <a:xfrm>
            <a:off x="5667375" y="24288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7A20126-88C0-41EB-A92F-761F4E688B10}"/>
              </a:ext>
            </a:extLst>
          </p:cNvPr>
          <p:cNvSpPr>
            <a:spLocks noGrp="1"/>
          </p:cNvSpPr>
          <p:nvPr/>
        </p:nvSpPr>
        <p:spPr>
          <a:xfrm>
            <a:off x="5267325" y="309562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B5249A0-2D24-4C84-8796-CC52C12AA47B}"/>
              </a:ext>
            </a:extLst>
          </p:cNvPr>
          <p:cNvSpPr>
            <a:spLocks noGrp="1"/>
          </p:cNvSpPr>
          <p:nvPr/>
        </p:nvSpPr>
        <p:spPr>
          <a:xfrm>
            <a:off x="635317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35BE4FE-4A6A-4ED5-96AC-9DE001281388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79460E-0F22-4633-BD44-2A2B6DAAD28A}"/>
              </a:ext>
            </a:extLst>
          </p:cNvPr>
          <p:cNvSpPr>
            <a:spLocks noGrp="1"/>
          </p:cNvSpPr>
          <p:nvPr/>
        </p:nvSpPr>
        <p:spPr>
          <a:xfrm>
            <a:off x="698182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92322E6-633B-450B-A43A-E6E16D75DEF1}"/>
              </a:ext>
            </a:extLst>
          </p:cNvPr>
          <p:cNvSpPr>
            <a:spLocks noGrp="1"/>
          </p:cNvSpPr>
          <p:nvPr/>
        </p:nvSpPr>
        <p:spPr>
          <a:xfrm>
            <a:off x="729615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3E08A6D-6590-4790-BD1D-CBDF44F3CE72}"/>
              </a:ext>
            </a:extLst>
          </p:cNvPr>
          <p:cNvSpPr>
            <a:spLocks noGrp="1"/>
          </p:cNvSpPr>
          <p:nvPr/>
        </p:nvSpPr>
        <p:spPr>
          <a:xfrm>
            <a:off x="7810500" y="24288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3E78DE6-BC72-4CDF-B5ED-B39297A1C8F8}"/>
              </a:ext>
            </a:extLst>
          </p:cNvPr>
          <p:cNvSpPr>
            <a:spLocks noGrp="1"/>
          </p:cNvSpPr>
          <p:nvPr/>
        </p:nvSpPr>
        <p:spPr>
          <a:xfrm>
            <a:off x="7410450" y="309562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Parecer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5ECCB8A-CAD6-4596-A198-BF057EA44A8D}"/>
              </a:ext>
            </a:extLst>
          </p:cNvPr>
          <p:cNvSpPr>
            <a:spLocks noGrp="1"/>
          </p:cNvSpPr>
          <p:nvPr/>
        </p:nvSpPr>
        <p:spPr>
          <a:xfrm>
            <a:off x="849630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BD65434-9BD7-44D9-8CC2-5743B64E10DF}"/>
              </a:ext>
            </a:extLst>
          </p:cNvPr>
          <p:cNvSpPr>
            <a:spLocks noGrp="1"/>
          </p:cNvSpPr>
          <p:nvPr/>
        </p:nvSpPr>
        <p:spPr>
          <a:xfrm>
            <a:off x="881062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45E396C-70D2-421F-8E84-BA864150FBC4}"/>
              </a:ext>
            </a:extLst>
          </p:cNvPr>
          <p:cNvSpPr>
            <a:spLocks noGrp="1"/>
          </p:cNvSpPr>
          <p:nvPr/>
        </p:nvSpPr>
        <p:spPr>
          <a:xfrm>
            <a:off x="9124950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121036A-04DE-4F44-ABF0-0D1D05A032DF}"/>
              </a:ext>
            </a:extLst>
          </p:cNvPr>
          <p:cNvSpPr>
            <a:spLocks noGrp="1"/>
          </p:cNvSpPr>
          <p:nvPr/>
        </p:nvSpPr>
        <p:spPr>
          <a:xfrm>
            <a:off x="9439275" y="2667000"/>
            <a:ext cx="171450" cy="38100"/>
          </a:xfrm>
          <a:prstGeom prst="rect">
            <a:avLst/>
          </a:prstGeom>
          <a:solidFill>
            <a:srgbClr val="F59E42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9906805E-25D3-4FB7-83D7-97BD7A988A4C}"/>
              </a:ext>
            </a:extLst>
          </p:cNvPr>
          <p:cNvSpPr>
            <a:spLocks noGrp="1"/>
          </p:cNvSpPr>
          <p:nvPr/>
        </p:nvSpPr>
        <p:spPr>
          <a:xfrm>
            <a:off x="9953625" y="24288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67F7A0C-2462-415B-8129-737A6BA012C4}"/>
              </a:ext>
            </a:extLst>
          </p:cNvPr>
          <p:cNvSpPr>
            <a:spLocks noGrp="1"/>
          </p:cNvSpPr>
          <p:nvPr/>
        </p:nvSpPr>
        <p:spPr>
          <a:xfrm>
            <a:off x="9553575" y="309562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2FB92FFF-A01A-4AE9-BF31-513BEE84204A}"/>
              </a:ext>
            </a:extLst>
          </p:cNvPr>
          <p:cNvSpPr>
            <a:spLocks noGrp="1"/>
          </p:cNvSpPr>
          <p:nvPr/>
        </p:nvSpPr>
        <p:spPr>
          <a:xfrm>
            <a:off x="1809750" y="4686300"/>
            <a:ext cx="16192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EA95E81-E41A-42D1-A841-BACB9CA9F20B}"/>
              </a:ext>
            </a:extLst>
          </p:cNvPr>
          <p:cNvSpPr>
            <a:spLocks noGrp="1"/>
          </p:cNvSpPr>
          <p:nvPr/>
        </p:nvSpPr>
        <p:spPr>
          <a:xfrm>
            <a:off x="1905000" y="4752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Informação espalhada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9FFB0C9-37C7-45E8-A91F-742BACCF5406}"/>
              </a:ext>
            </a:extLst>
          </p:cNvPr>
          <p:cNvSpPr>
            <a:spLocks noGrp="1"/>
          </p:cNvSpPr>
          <p:nvPr/>
        </p:nvSpPr>
        <p:spPr>
          <a:xfrm>
            <a:off x="3905250" y="4686300"/>
            <a:ext cx="16192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2E73FC0-A723-480A-B366-C2C64C567A15}"/>
              </a:ext>
            </a:extLst>
          </p:cNvPr>
          <p:cNvSpPr>
            <a:spLocks noGrp="1"/>
          </p:cNvSpPr>
          <p:nvPr/>
        </p:nvSpPr>
        <p:spPr>
          <a:xfrm>
            <a:off x="4000500" y="4752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Busca manual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61A02C3-07E1-4571-AB3F-18A54A52AE5C}"/>
              </a:ext>
            </a:extLst>
          </p:cNvPr>
          <p:cNvSpPr>
            <a:spLocks noGrp="1"/>
          </p:cNvSpPr>
          <p:nvPr/>
        </p:nvSpPr>
        <p:spPr>
          <a:xfrm>
            <a:off x="6000750" y="4686300"/>
            <a:ext cx="16192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F92A921-C736-4AA4-BC25-28142E8A0C6A}"/>
              </a:ext>
            </a:extLst>
          </p:cNvPr>
          <p:cNvSpPr>
            <a:spLocks noGrp="1"/>
          </p:cNvSpPr>
          <p:nvPr/>
        </p:nvSpPr>
        <p:spPr>
          <a:xfrm>
            <a:off x="6096000" y="4752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Retrabalho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D05AF28-EA3D-4A80-BB11-A8C1C7352E18}"/>
              </a:ext>
            </a:extLst>
          </p:cNvPr>
          <p:cNvSpPr>
            <a:spLocks noGrp="1"/>
          </p:cNvSpPr>
          <p:nvPr/>
        </p:nvSpPr>
        <p:spPr>
          <a:xfrm>
            <a:off x="8096250" y="4686300"/>
            <a:ext cx="161925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C7CE3BD-866D-4AB8-B355-E65205779F6F}"/>
              </a:ext>
            </a:extLst>
          </p:cNvPr>
          <p:cNvSpPr>
            <a:spLocks noGrp="1"/>
          </p:cNvSpPr>
          <p:nvPr/>
        </p:nvSpPr>
        <p:spPr>
          <a:xfrm>
            <a:off x="8191500" y="4752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Falta de contexto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92BFD2E-2031-4723-A940-94D694AA2F5C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434129FE-03EE-4707-B219-86B796F5B7F3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D6B49D2-131F-4C1A-9261-3F4347729FF8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B3C6FEB-47F2-43D7-97B7-8BFC1E2BCC3C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0CBF3D33-9DD1-4306-B3A1-47E69028ACF9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F17C52E-B415-47DF-A53A-06F65B58464A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0EA8394B-93B3-40EF-A6AD-524BD52A20B7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355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528F5118-5F60-4E0D-AAA9-00E9158B4AA8}"/>
              </a:ext>
            </a:extLst>
          </p:cNvPr>
          <p:cNvSpPr>
            <a:spLocks noGrp="1"/>
          </p:cNvSpPr>
          <p:nvPr/>
        </p:nvSpPr>
        <p:spPr>
          <a:xfrm>
            <a:off x="1428750" y="11239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Não digitalizamos apenas documentos.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7569DE9-A9C8-48D8-A2F8-94149F946CD0}"/>
              </a:ext>
            </a:extLst>
          </p:cNvPr>
          <p:cNvSpPr>
            <a:spLocks noGrp="1"/>
          </p:cNvSpPr>
          <p:nvPr/>
        </p:nvSpPr>
        <p:spPr>
          <a:xfrm>
            <a:off x="1619250" y="1790700"/>
            <a:ext cx="895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6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Digitalizamos a jornada.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EFDAF5-4C4A-4056-88CC-BDCC6A3366ED}"/>
              </a:ext>
            </a:extLst>
          </p:cNvPr>
          <p:cNvSpPr>
            <a:spLocks noGrp="1"/>
          </p:cNvSpPr>
          <p:nvPr/>
        </p:nvSpPr>
        <p:spPr>
          <a:xfrm>
            <a:off x="2371725" y="3552825"/>
            <a:ext cx="7448550" cy="38100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672E2B3-F1F7-4E6E-A322-19DE169324FE}"/>
              </a:ext>
            </a:extLst>
          </p:cNvPr>
          <p:cNvSpPr>
            <a:spLocks noGrp="1"/>
          </p:cNvSpPr>
          <p:nvPr/>
        </p:nvSpPr>
        <p:spPr>
          <a:xfrm>
            <a:off x="2190750" y="3381375"/>
            <a:ext cx="361950" cy="361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58A8038-A43B-4E8C-9933-AA1C5C600CBE}"/>
              </a:ext>
            </a:extLst>
          </p:cNvPr>
          <p:cNvSpPr>
            <a:spLocks noGrp="1"/>
          </p:cNvSpPr>
          <p:nvPr/>
        </p:nvSpPr>
        <p:spPr>
          <a:xfrm>
            <a:off x="2190750" y="34385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231BA88-6AB2-455E-A710-90FB3EC9EB33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0FD0CC8-12D9-4DB9-9B2F-542F240420E5}"/>
              </a:ext>
            </a:extLst>
          </p:cNvPr>
          <p:cNvSpPr>
            <a:spLocks noGrp="1"/>
          </p:cNvSpPr>
          <p:nvPr/>
        </p:nvSpPr>
        <p:spPr>
          <a:xfrm>
            <a:off x="4143375" y="3381375"/>
            <a:ext cx="361950" cy="361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3715ED-20EB-462C-926D-D406BFE08310}"/>
              </a:ext>
            </a:extLst>
          </p:cNvPr>
          <p:cNvSpPr>
            <a:spLocks noGrp="1"/>
          </p:cNvSpPr>
          <p:nvPr/>
        </p:nvSpPr>
        <p:spPr>
          <a:xfrm>
            <a:off x="4143375" y="34385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CDB69AA-8FB2-4674-AA6B-CCFF00C23E74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Exame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3A4B155-D806-465F-BC20-BC0D784B2D78}"/>
              </a:ext>
            </a:extLst>
          </p:cNvPr>
          <p:cNvSpPr>
            <a:spLocks noGrp="1"/>
          </p:cNvSpPr>
          <p:nvPr/>
        </p:nvSpPr>
        <p:spPr>
          <a:xfrm>
            <a:off x="6096000" y="3381375"/>
            <a:ext cx="361950" cy="361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F53B286-549F-40EC-A6FA-9AEFD445E3D3}"/>
              </a:ext>
            </a:extLst>
          </p:cNvPr>
          <p:cNvSpPr>
            <a:spLocks noGrp="1"/>
          </p:cNvSpPr>
          <p:nvPr/>
        </p:nvSpPr>
        <p:spPr>
          <a:xfrm>
            <a:off x="6096000" y="34385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9CAEC3-95C1-4273-B258-81107AC5E075}"/>
              </a:ext>
            </a:extLst>
          </p:cNvPr>
          <p:cNvSpPr>
            <a:spLocks noGrp="1"/>
          </p:cNvSpPr>
          <p:nvPr/>
        </p:nvSpPr>
        <p:spPr>
          <a:xfrm>
            <a:off x="5572125" y="38576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E58F52-D1E4-4C97-AFD3-E8D63FCE2F52}"/>
              </a:ext>
            </a:extLst>
          </p:cNvPr>
          <p:cNvSpPr>
            <a:spLocks noGrp="1"/>
          </p:cNvSpPr>
          <p:nvPr/>
        </p:nvSpPr>
        <p:spPr>
          <a:xfrm>
            <a:off x="8048625" y="3381375"/>
            <a:ext cx="361950" cy="361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A02E9B6-4E60-4AD8-A744-1DBF265A2159}"/>
              </a:ext>
            </a:extLst>
          </p:cNvPr>
          <p:cNvSpPr>
            <a:spLocks noGrp="1"/>
          </p:cNvSpPr>
          <p:nvPr/>
        </p:nvSpPr>
        <p:spPr>
          <a:xfrm>
            <a:off x="8048625" y="34385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8E47080-B86C-468F-AB42-D62945E19851}"/>
              </a:ext>
            </a:extLst>
          </p:cNvPr>
          <p:cNvSpPr>
            <a:spLocks noGrp="1"/>
          </p:cNvSpPr>
          <p:nvPr/>
        </p:nvSpPr>
        <p:spPr>
          <a:xfrm>
            <a:off x="7524750" y="38576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Parecer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4279351-92D9-4924-A482-D205090EE0A6}"/>
              </a:ext>
            </a:extLst>
          </p:cNvPr>
          <p:cNvSpPr>
            <a:spLocks noGrp="1"/>
          </p:cNvSpPr>
          <p:nvPr/>
        </p:nvSpPr>
        <p:spPr>
          <a:xfrm>
            <a:off x="10001250" y="3381375"/>
            <a:ext cx="361950" cy="361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428770-7E65-4A49-ACA2-88DD0C590FD4}"/>
              </a:ext>
            </a:extLst>
          </p:cNvPr>
          <p:cNvSpPr>
            <a:spLocks noGrp="1"/>
          </p:cNvSpPr>
          <p:nvPr/>
        </p:nvSpPr>
        <p:spPr>
          <a:xfrm>
            <a:off x="10001250" y="34385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9EC7892-FDBC-4598-A7BC-68E1D915731D}"/>
              </a:ext>
            </a:extLst>
          </p:cNvPr>
          <p:cNvSpPr>
            <a:spLocks noGrp="1"/>
          </p:cNvSpPr>
          <p:nvPr/>
        </p:nvSpPr>
        <p:spPr>
          <a:xfrm>
            <a:off x="9477375" y="38576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3A0ECAC-C8A1-4F4B-8C25-7DACD08F6805}"/>
              </a:ext>
            </a:extLst>
          </p:cNvPr>
          <p:cNvSpPr>
            <a:spLocks noGrp="1"/>
          </p:cNvSpPr>
          <p:nvPr/>
        </p:nvSpPr>
        <p:spPr>
          <a:xfrm>
            <a:off x="5924550" y="4591050"/>
            <a:ext cx="28575" cy="28575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185F744-E25E-4AED-9099-A414ECB92AE6}"/>
              </a:ext>
            </a:extLst>
          </p:cNvPr>
          <p:cNvSpPr>
            <a:spLocks noGrp="1"/>
          </p:cNvSpPr>
          <p:nvPr/>
        </p:nvSpPr>
        <p:spPr>
          <a:xfrm>
            <a:off x="5067300" y="5143500"/>
            <a:ext cx="1752600" cy="457200"/>
          </a:xfrm>
          <a:prstGeom prst="roundRect">
            <a:avLst>
              <a:gd name="adj" fmla="val 29167"/>
            </a:avLst>
          </a:prstGeom>
          <a:solidFill>
            <a:srgbClr val="EAF7F0"/>
          </a:solidFill>
          <a:ln w="9525">
            <a:solidFill>
              <a:srgbClr val="BDE8C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9CF55AC-B299-45DB-B6FB-89461F3F0130}"/>
              </a:ext>
            </a:extLst>
          </p:cNvPr>
          <p:cNvSpPr>
            <a:spLocks noGrp="1"/>
          </p:cNvSpPr>
          <p:nvPr/>
        </p:nvSpPr>
        <p:spPr>
          <a:xfrm>
            <a:off x="5257800" y="52673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697" lnSpcReduction="20000"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9A96B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EF4A303-5C11-4ED0-B251-5F4160370128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B527AF9-591C-4DD1-A872-373B4FB9961E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AB6058C-CEF4-4D77-BD74-4ECEB3DE407B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217CF04-67C4-417B-9261-3EB81FF82FD4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F9A3A8F-B77B-4F41-9A85-0C13598793B3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C60742D-9A01-438E-A014-6C9C27A0CC15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B398EC9-689A-45F5-93D0-9B154B3B955D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149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DC01171A-222A-4821-9396-AB9DB4CDC70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Uma única jornada assistencial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E25F60-7267-418C-895D-801DB9427182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Do agendamento ao histórico consolidado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48171D-06B9-4EDC-8C40-892FB6F77518}"/>
              </a:ext>
            </a:extLst>
          </p:cNvPr>
          <p:cNvSpPr>
            <a:spLocks noGrp="1"/>
          </p:cNvSpPr>
          <p:nvPr/>
        </p:nvSpPr>
        <p:spPr>
          <a:xfrm>
            <a:off x="1276350" y="2162175"/>
            <a:ext cx="9277350" cy="38100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091B863-5D35-4546-B7FD-61213E5DAC26}"/>
              </a:ext>
            </a:extLst>
          </p:cNvPr>
          <p:cNvSpPr>
            <a:spLocks noGrp="1"/>
          </p:cNvSpPr>
          <p:nvPr/>
        </p:nvSpPr>
        <p:spPr>
          <a:xfrm>
            <a:off x="1104900" y="20002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57BA6B-1093-4797-AC74-12EEB376533A}"/>
              </a:ext>
            </a:extLst>
          </p:cNvPr>
          <p:cNvSpPr>
            <a:spLocks noGrp="1"/>
          </p:cNvSpPr>
          <p:nvPr/>
        </p:nvSpPr>
        <p:spPr>
          <a:xfrm>
            <a:off x="1104900" y="20574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829DBC6-9D80-4E66-A3E4-7C24F42D988D}"/>
              </a:ext>
            </a:extLst>
          </p:cNvPr>
          <p:cNvSpPr>
            <a:spLocks noGrp="1"/>
          </p:cNvSpPr>
          <p:nvPr/>
        </p:nvSpPr>
        <p:spPr>
          <a:xfrm>
            <a:off x="581025" y="2476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200047B-97B0-428F-8CBD-098D243D4DF9}"/>
              </a:ext>
            </a:extLst>
          </p:cNvPr>
          <p:cNvSpPr>
            <a:spLocks noGrp="1"/>
          </p:cNvSpPr>
          <p:nvPr/>
        </p:nvSpPr>
        <p:spPr>
          <a:xfrm>
            <a:off x="3028950" y="20002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B8D6D48-A163-4901-B044-1197A12F7D10}"/>
              </a:ext>
            </a:extLst>
          </p:cNvPr>
          <p:cNvSpPr>
            <a:spLocks noGrp="1"/>
          </p:cNvSpPr>
          <p:nvPr/>
        </p:nvSpPr>
        <p:spPr>
          <a:xfrm>
            <a:off x="3028950" y="20574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8CC0207-263B-4998-BCCC-A61C9A62A3F2}"/>
              </a:ext>
            </a:extLst>
          </p:cNvPr>
          <p:cNvSpPr>
            <a:spLocks noGrp="1"/>
          </p:cNvSpPr>
          <p:nvPr/>
        </p:nvSpPr>
        <p:spPr>
          <a:xfrm>
            <a:off x="2505075" y="2476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Solicitação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1AB74E1-1238-438F-9EBC-F4AD5263A1A2}"/>
              </a:ext>
            </a:extLst>
          </p:cNvPr>
          <p:cNvSpPr>
            <a:spLocks noGrp="1"/>
          </p:cNvSpPr>
          <p:nvPr/>
        </p:nvSpPr>
        <p:spPr>
          <a:xfrm>
            <a:off x="4953000" y="20002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AF46135-4EFD-415F-8CD4-A37A0772E4D5}"/>
              </a:ext>
            </a:extLst>
          </p:cNvPr>
          <p:cNvSpPr>
            <a:spLocks noGrp="1"/>
          </p:cNvSpPr>
          <p:nvPr/>
        </p:nvSpPr>
        <p:spPr>
          <a:xfrm>
            <a:off x="4953000" y="20574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7FD9083-27C5-4C41-B5AF-AF039F11EB79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Exame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8DEFE60-32C8-4425-9DF1-8D8D4467072E}"/>
              </a:ext>
            </a:extLst>
          </p:cNvPr>
          <p:cNvSpPr>
            <a:spLocks noGrp="1"/>
          </p:cNvSpPr>
          <p:nvPr/>
        </p:nvSpPr>
        <p:spPr>
          <a:xfrm>
            <a:off x="6877050" y="20002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FEADB69-C86A-446B-BFCB-D6F113D56A94}"/>
              </a:ext>
            </a:extLst>
          </p:cNvPr>
          <p:cNvSpPr>
            <a:spLocks noGrp="1"/>
          </p:cNvSpPr>
          <p:nvPr/>
        </p:nvSpPr>
        <p:spPr>
          <a:xfrm>
            <a:off x="6877050" y="20574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8F4023E-5DA4-42CF-A764-BFE1EF2CF80D}"/>
              </a:ext>
            </a:extLst>
          </p:cNvPr>
          <p:cNvSpPr>
            <a:spLocks noGrp="1"/>
          </p:cNvSpPr>
          <p:nvPr/>
        </p:nvSpPr>
        <p:spPr>
          <a:xfrm>
            <a:off x="6353175" y="2476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EF20F45-B7C1-40BE-8182-E71263532380}"/>
              </a:ext>
            </a:extLst>
          </p:cNvPr>
          <p:cNvSpPr>
            <a:spLocks noGrp="1"/>
          </p:cNvSpPr>
          <p:nvPr/>
        </p:nvSpPr>
        <p:spPr>
          <a:xfrm>
            <a:off x="8801100" y="20002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5DD2F51-7A70-43BC-A4A7-6A89FBDA75A5}"/>
              </a:ext>
            </a:extLst>
          </p:cNvPr>
          <p:cNvSpPr>
            <a:spLocks noGrp="1"/>
          </p:cNvSpPr>
          <p:nvPr/>
        </p:nvSpPr>
        <p:spPr>
          <a:xfrm>
            <a:off x="8801100" y="20574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9B18BD3-AB13-4402-81D8-0A74B5FAF004}"/>
              </a:ext>
            </a:extLst>
          </p:cNvPr>
          <p:cNvSpPr>
            <a:spLocks noGrp="1"/>
          </p:cNvSpPr>
          <p:nvPr/>
        </p:nvSpPr>
        <p:spPr>
          <a:xfrm>
            <a:off x="8277225" y="2476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Parecer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DF6E93F-8B0F-4063-84DE-C3B58B3912BD}"/>
              </a:ext>
            </a:extLst>
          </p:cNvPr>
          <p:cNvSpPr>
            <a:spLocks noGrp="1"/>
          </p:cNvSpPr>
          <p:nvPr/>
        </p:nvSpPr>
        <p:spPr>
          <a:xfrm>
            <a:off x="10725150" y="20002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DCBC028-2C3D-4398-96B2-293EBAEE9070}"/>
              </a:ext>
            </a:extLst>
          </p:cNvPr>
          <p:cNvSpPr>
            <a:spLocks noGrp="1"/>
          </p:cNvSpPr>
          <p:nvPr/>
        </p:nvSpPr>
        <p:spPr>
          <a:xfrm>
            <a:off x="10725150" y="20574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8850DB5-1906-4B86-BCEB-397B4393547D}"/>
              </a:ext>
            </a:extLst>
          </p:cNvPr>
          <p:cNvSpPr>
            <a:spLocks noGrp="1"/>
          </p:cNvSpPr>
          <p:nvPr/>
        </p:nvSpPr>
        <p:spPr>
          <a:xfrm>
            <a:off x="10201275" y="2476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7447" lnSpcReduction="1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Receita ou documento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09BBF07-5180-40AD-B1AB-B6B7488971D2}"/>
              </a:ext>
            </a:extLst>
          </p:cNvPr>
          <p:cNvSpPr>
            <a:spLocks noGrp="1"/>
          </p:cNvSpPr>
          <p:nvPr/>
        </p:nvSpPr>
        <p:spPr>
          <a:xfrm>
            <a:off x="2057400" y="3810000"/>
            <a:ext cx="8096250" cy="64770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262A4DC-56FC-44F8-B281-5AD58514D6E8}"/>
              </a:ext>
            </a:extLst>
          </p:cNvPr>
          <p:cNvSpPr>
            <a:spLocks noGrp="1"/>
          </p:cNvSpPr>
          <p:nvPr/>
        </p:nvSpPr>
        <p:spPr>
          <a:xfrm>
            <a:off x="2438400" y="39338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295"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650" b="1" i="0" dirty="0" err="1">
                <a:solidFill>
                  <a:srgbClr val="F59E42"/>
                </a:solidFill>
                <a:latin typeface="Aptos"/>
                <a:ea typeface="Aptos"/>
                <a:cs typeface="Aptos"/>
              </a:rPr>
              <a:t>Notificações</a:t>
            </a:r>
            <a:r>
              <a:rPr sz="1650" b="1" i="0" dirty="0">
                <a:solidFill>
                  <a:srgbClr val="F59E42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F59E42"/>
                </a:solidFill>
                <a:latin typeface="Aptos"/>
                <a:ea typeface="Aptos"/>
                <a:cs typeface="Aptos"/>
              </a:rPr>
              <a:t>acompanham</a:t>
            </a:r>
            <a:r>
              <a:rPr sz="1650" b="1" i="0" dirty="0">
                <a:solidFill>
                  <a:srgbClr val="F59E42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F59E42"/>
                </a:solidFill>
                <a:latin typeface="Aptos"/>
                <a:ea typeface="Aptos"/>
                <a:cs typeface="Aptos"/>
              </a:rPr>
              <a:t>cada</a:t>
            </a:r>
            <a:r>
              <a:rPr sz="1650" b="1" i="0" dirty="0">
                <a:solidFill>
                  <a:srgbClr val="F59E42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F59E42"/>
                </a:solidFill>
                <a:latin typeface="Aptos"/>
                <a:ea typeface="Aptos"/>
                <a:cs typeface="Aptos"/>
              </a:rPr>
              <a:t>etapa</a:t>
            </a:r>
            <a:endParaRPr sz="1650" b="1" i="0" dirty="0">
              <a:solidFill>
                <a:srgbClr val="F59E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C546898-D4F1-42EA-916C-CB0F3F038A3C}"/>
              </a:ext>
            </a:extLst>
          </p:cNvPr>
          <p:cNvSpPr>
            <a:spLocks noGrp="1"/>
          </p:cNvSpPr>
          <p:nvPr/>
        </p:nvSpPr>
        <p:spPr>
          <a:xfrm>
            <a:off x="5905500" y="39338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1761" lnSpcReduction="20000"/>
          </a:bodyPr>
          <a:lstStyle/>
          <a:p>
            <a:pPr algn="r">
              <a:lnSpc>
                <a:spcPct val="105000"/>
              </a:lnSpc>
              <a:buNone/>
              <a:defRPr sz="1650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39A96B"/>
                </a:solidFill>
                <a:latin typeface="Aptos"/>
                <a:ea typeface="Aptos"/>
                <a:cs typeface="Aptos"/>
              </a:rPr>
              <a:t>Histórico </a:t>
            </a:r>
            <a:r>
              <a:rPr sz="1650" b="1" i="0" dirty="0" err="1">
                <a:solidFill>
                  <a:srgbClr val="39A96B"/>
                </a:solidFill>
                <a:latin typeface="Aptos"/>
                <a:ea typeface="Aptos"/>
                <a:cs typeface="Aptos"/>
              </a:rPr>
              <a:t>consolida</a:t>
            </a:r>
            <a:r>
              <a:rPr sz="1650" b="1" i="0" dirty="0">
                <a:solidFill>
                  <a:srgbClr val="39A96B"/>
                </a:solidFill>
                <a:latin typeface="Aptos"/>
                <a:ea typeface="Aptos"/>
                <a:cs typeface="Aptos"/>
              </a:rPr>
              <a:t> a jornada </a:t>
            </a:r>
            <a:r>
              <a:rPr sz="1650" b="1" i="0" dirty="0" err="1">
                <a:solidFill>
                  <a:srgbClr val="39A96B"/>
                </a:solidFill>
                <a:latin typeface="Aptos"/>
                <a:ea typeface="Aptos"/>
                <a:cs typeface="Aptos"/>
              </a:rPr>
              <a:t>sem</a:t>
            </a:r>
            <a:r>
              <a:rPr sz="1650" b="1" i="0" dirty="0">
                <a:solidFill>
                  <a:srgbClr val="39A96B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i="0" dirty="0" err="1">
                <a:solidFill>
                  <a:srgbClr val="39A96B"/>
                </a:solidFill>
                <a:latin typeface="Aptos"/>
                <a:ea typeface="Aptos"/>
                <a:cs typeface="Aptos"/>
              </a:rPr>
              <a:t>duplicar</a:t>
            </a:r>
            <a:r>
              <a:rPr sz="1650" b="1" i="0" dirty="0">
                <a:solidFill>
                  <a:srgbClr val="39A96B"/>
                </a:solidFill>
                <a:latin typeface="Aptos"/>
                <a:ea typeface="Aptos"/>
                <a:cs typeface="Aptos"/>
              </a:rPr>
              <a:t> dados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7A93953-DAC7-4525-B4FB-AF29C8176F47}"/>
              </a:ext>
            </a:extLst>
          </p:cNvPr>
          <p:cNvSpPr>
            <a:spLocks noGrp="1"/>
          </p:cNvSpPr>
          <p:nvPr/>
        </p:nvSpPr>
        <p:spPr>
          <a:xfrm>
            <a:off x="2419350" y="4410075"/>
            <a:ext cx="7296150" cy="19050"/>
          </a:xfrm>
          <a:prstGeom prst="rect">
            <a:avLst/>
          </a:prstGeom>
          <a:solidFill>
            <a:srgbClr val="E3ECF1"/>
          </a:solidFill>
          <a:ln w="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F33D0EB-E571-47AF-A683-72C0A51ACFF9}"/>
              </a:ext>
            </a:extLst>
          </p:cNvPr>
          <p:cNvSpPr>
            <a:spLocks noGrp="1"/>
          </p:cNvSpPr>
          <p:nvPr/>
        </p:nvSpPr>
        <p:spPr>
          <a:xfrm>
            <a:off x="3771900" y="4714875"/>
            <a:ext cx="464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3371"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Cada item aponta para o recurso de origem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F066EBD-F824-4075-9A77-ACB44DD6B611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5A9D310-096D-466E-8EC9-EC4684DAAD6B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97E18AF-66B9-4446-BD08-AB24DE0A4536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6D60C2DF-B37E-48AA-9DB6-04042749FF1A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4DE1D12C-DBFB-4C3C-8C00-F83FB52570AB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14B3451-A32B-4665-A798-238B85A57B4F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3E76B37-5B7C-409C-A5F5-CA4B1D2CDA9F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574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6E62589B-467A-4DF3-8D76-140C3A16E8D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Resultado e parecer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6D2FF5-AD58-4848-98A1-1032E72A6044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Dado técnico e interpretação clínica permanecem separados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6E64D23-58D9-49ED-B28F-FBE9789C53C6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457700" cy="2857500"/>
          </a:xfrm>
          <a:prstGeom prst="roundRect">
            <a:avLst>
              <a:gd name="adj" fmla="val 7333"/>
            </a:avLst>
          </a:prstGeom>
          <a:solidFill>
            <a:srgbClr val="EAF1FF"/>
          </a:solidFill>
          <a:ln w="9525">
            <a:solidFill>
              <a:srgbClr val="CAD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2908FC5-37B0-4504-9CED-30FD955554A7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4457700" cy="2857500"/>
          </a:xfrm>
          <a:prstGeom prst="roundRect">
            <a:avLst>
              <a:gd name="adj" fmla="val 7333"/>
            </a:avLst>
          </a:prstGeom>
          <a:solidFill>
            <a:srgbClr val="EAF7F0"/>
          </a:solidFill>
          <a:ln w="9525">
            <a:solidFill>
              <a:srgbClr val="BDE8C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DBCBAC4-8D05-4A4D-AAAE-4FE349EF3783}"/>
              </a:ext>
            </a:extLst>
          </p:cNvPr>
          <p:cNvSpPr>
            <a:spLocks noGrp="1"/>
          </p:cNvSpPr>
          <p:nvPr/>
        </p:nvSpPr>
        <p:spPr>
          <a:xfrm>
            <a:off x="1257300" y="2095500"/>
            <a:ext cx="3886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8203" lnSpcReduction="10000"/>
          </a:bodyPr>
          <a:lstStyle/>
          <a:p>
            <a:pPr algn="ctr">
              <a:lnSpc>
                <a:spcPct val="105000"/>
              </a:lnSpc>
              <a:buNone/>
              <a:defRPr sz="21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56B5F31-FF79-4BC7-9A43-7FAEE5B75A1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3505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Dado técnico do exame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8A04FA8-209A-4C7F-B712-534CBFE8CD32}"/>
              </a:ext>
            </a:extLst>
          </p:cNvPr>
          <p:cNvSpPr>
            <a:spLocks noGrp="1"/>
          </p:cNvSpPr>
          <p:nvPr/>
        </p:nvSpPr>
        <p:spPr>
          <a:xfrm>
            <a:off x="2362200" y="3238500"/>
            <a:ext cx="16764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AD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9700F1-7C4D-49C9-AB77-C26C088552D1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Glicemia</a:t>
            </a:r>
          </a:p>
          <a:p>
            <a:pPr algn="ctr">
              <a:lnSpc>
                <a:spcPct val="100000"/>
              </a:lnSpc>
              <a:buNone/>
              <a:defRPr sz="1350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135 mg/dL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21680D1-1DF1-4956-9089-0EE65AE2B5C5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3886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8203" lnSpcReduction="10000"/>
          </a:bodyPr>
          <a:lstStyle/>
          <a:p>
            <a:pPr algn="ctr">
              <a:lnSpc>
                <a:spcPct val="105000"/>
              </a:lnSpc>
              <a:buNone/>
              <a:defRPr sz="2100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39A96B"/>
                </a:solidFill>
                <a:latin typeface="Aptos"/>
                <a:ea typeface="Aptos"/>
                <a:cs typeface="Aptos"/>
              </a:rPr>
              <a:t>PARECER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32DBC2-1C79-433A-AB99-92868986D972}"/>
              </a:ext>
            </a:extLst>
          </p:cNvPr>
          <p:cNvSpPr>
            <a:spLocks noGrp="1"/>
          </p:cNvSpPr>
          <p:nvPr/>
        </p:nvSpPr>
        <p:spPr>
          <a:xfrm>
            <a:off x="7239000" y="2609850"/>
            <a:ext cx="3505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Interpretação clínica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1AC88EF-D46A-4677-A0EB-C92A428131CD}"/>
              </a:ext>
            </a:extLst>
          </p:cNvPr>
          <p:cNvSpPr>
            <a:spLocks noGrp="1"/>
          </p:cNvSpPr>
          <p:nvPr/>
        </p:nvSpPr>
        <p:spPr>
          <a:xfrm>
            <a:off x="8153400" y="3238500"/>
            <a:ext cx="16764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BDE8C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F85578-66C9-4F5A-8335-69D20292184C}"/>
              </a:ext>
            </a:extLst>
          </p:cNvPr>
          <p:cNvSpPr>
            <a:spLocks noGrp="1"/>
          </p:cNvSpPr>
          <p:nvPr/>
        </p:nvSpPr>
        <p:spPr>
          <a:xfrm>
            <a:off x="8267700" y="3352800"/>
            <a:ext cx="1447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Análise registrada</a:t>
            </a:r>
          </a:p>
          <a:p>
            <a:pPr algn="ctr">
              <a:lnSpc>
                <a:spcPct val="100000"/>
              </a:lnSpc>
              <a:buNone/>
              <a:defRPr sz="127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pelo médico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6AC4DD4-007B-4967-9201-BBAF5A6821BA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38100" cy="28575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C4FF183-343E-4952-8E92-13B19D7B3A0C}"/>
              </a:ext>
            </a:extLst>
          </p:cNvPr>
          <p:cNvSpPr>
            <a:spLocks noGrp="1"/>
          </p:cNvSpPr>
          <p:nvPr/>
        </p:nvSpPr>
        <p:spPr>
          <a:xfrm>
            <a:off x="3943350" y="5095875"/>
            <a:ext cx="4305300" cy="361950"/>
          </a:xfrm>
          <a:prstGeom prst="roundRect">
            <a:avLst>
              <a:gd name="adj" fmla="val 47368"/>
            </a:avLst>
          </a:prstGeom>
          <a:solidFill>
            <a:srgbClr val="123B5D"/>
          </a:solidFill>
          <a:ln w="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1F3384D-B32C-48AC-B780-1741A361283B}"/>
              </a:ext>
            </a:extLst>
          </p:cNvPr>
          <p:cNvSpPr>
            <a:spLocks noGrp="1"/>
          </p:cNvSpPr>
          <p:nvPr/>
        </p:nvSpPr>
        <p:spPr>
          <a:xfrm>
            <a:off x="4038600" y="5162550"/>
            <a:ext cx="411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697" lnSpcReduction="20000"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 parecer nunca altera o resultado original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1C68022-3F1B-47E4-866D-AA00981E33BD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9F3EE68-7ACE-46A6-8786-04D0ADB65253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3E50AF7-569F-4CF6-9234-24D34B1C52EF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A915FF8-1A0F-4EAB-8137-0ACA709F107C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6253BCE-B452-4580-9E5A-26B0E0EAD41F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102328D9-282E-45D7-B876-E0C1C28FA10C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BCECCA0-F623-4ABB-8200-73BB23FEA2BD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909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5C36E5F0-2D38-4DDE-8D97-CAD51C3850A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O MVP em quatro capacidades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3FE1475-8C18-452E-B5BE-24EC1673A53B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Funcionalidades agrupadas pela jornada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459460A-EB19-4CD7-9CBB-A287C4EC3BDC}"/>
              </a:ext>
            </a:extLst>
          </p:cNvPr>
          <p:cNvSpPr>
            <a:spLocks noGrp="1"/>
          </p:cNvSpPr>
          <p:nvPr/>
        </p:nvSpPr>
        <p:spPr>
          <a:xfrm>
            <a:off x="1162050" y="1695450"/>
            <a:ext cx="4800600" cy="142875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53769EF-D4DD-47AE-B5E4-4BA2FFDC2B8A}"/>
              </a:ext>
            </a:extLst>
          </p:cNvPr>
          <p:cNvSpPr>
            <a:spLocks noGrp="1"/>
          </p:cNvSpPr>
          <p:nvPr/>
        </p:nvSpPr>
        <p:spPr>
          <a:xfrm>
            <a:off x="1409700" y="1962150"/>
            <a:ext cx="7429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91795A-CF1E-4EF9-9F02-BB17FFAFD411}"/>
              </a:ext>
            </a:extLst>
          </p:cNvPr>
          <p:cNvSpPr>
            <a:spLocks noGrp="1"/>
          </p:cNvSpPr>
          <p:nvPr/>
        </p:nvSpPr>
        <p:spPr>
          <a:xfrm>
            <a:off x="2381250" y="19621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Identidade e acesso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5128803-0E78-4184-AD67-0186FB913A01}"/>
              </a:ext>
            </a:extLst>
          </p:cNvPr>
          <p:cNvSpPr>
            <a:spLocks noGrp="1"/>
          </p:cNvSpPr>
          <p:nvPr/>
        </p:nvSpPr>
        <p:spPr>
          <a:xfrm>
            <a:off x="2381250" y="2400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5146" lnSpcReduction="20000"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JWT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Roles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Usuários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DE07B8B-F0B0-4ADE-9CD6-AAF9FCB7320A}"/>
              </a:ext>
            </a:extLst>
          </p:cNvPr>
          <p:cNvSpPr>
            <a:spLocks noGrp="1"/>
          </p:cNvSpPr>
          <p:nvPr/>
        </p:nvSpPr>
        <p:spPr>
          <a:xfrm>
            <a:off x="6229350" y="1695450"/>
            <a:ext cx="4800600" cy="1428750"/>
          </a:xfrm>
          <a:prstGeom prst="roundRect">
            <a:avLst>
              <a:gd name="adj" fmla="val 12000"/>
            </a:avLst>
          </a:prstGeom>
          <a:solidFill>
            <a:srgbClr val="E7F7F8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0E8E28-63FF-41A8-9DF6-B429A3098D5B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742950" cy="47625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880F2E-A955-4549-BFD6-29035CA0D306}"/>
              </a:ext>
            </a:extLst>
          </p:cNvPr>
          <p:cNvSpPr>
            <a:spLocks noGrp="1"/>
          </p:cNvSpPr>
          <p:nvPr/>
        </p:nvSpPr>
        <p:spPr>
          <a:xfrm>
            <a:off x="7448550" y="19621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Atendimento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94E4E37-2FBF-4EC8-B734-826D853321E2}"/>
              </a:ext>
            </a:extLst>
          </p:cNvPr>
          <p:cNvSpPr>
            <a:spLocks noGrp="1"/>
          </p:cNvSpPr>
          <p:nvPr/>
        </p:nvSpPr>
        <p:spPr>
          <a:xfrm>
            <a:off x="7448550" y="2400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5146" lnSpcReduction="20000"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Consultas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Exames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Agendamento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2267F7F-E5D6-499B-AF56-22CFE8B98CA4}"/>
              </a:ext>
            </a:extLst>
          </p:cNvPr>
          <p:cNvSpPr>
            <a:spLocks noGrp="1"/>
          </p:cNvSpPr>
          <p:nvPr/>
        </p:nvSpPr>
        <p:spPr>
          <a:xfrm>
            <a:off x="1162050" y="3524250"/>
            <a:ext cx="4800600" cy="1428750"/>
          </a:xfrm>
          <a:prstGeom prst="roundRect">
            <a:avLst>
              <a:gd name="adj" fmla="val 12000"/>
            </a:avLst>
          </a:prstGeom>
          <a:solidFill>
            <a:srgbClr val="EAF7F0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EC6E4FB-2156-4EAD-B17E-0D47C80E4EF2}"/>
              </a:ext>
            </a:extLst>
          </p:cNvPr>
          <p:cNvSpPr>
            <a:spLocks noGrp="1"/>
          </p:cNvSpPr>
          <p:nvPr/>
        </p:nvSpPr>
        <p:spPr>
          <a:xfrm>
            <a:off x="1409700" y="3790950"/>
            <a:ext cx="742950" cy="47625"/>
          </a:xfrm>
          <a:prstGeom prst="rect">
            <a:avLst/>
          </a:prstGeom>
          <a:solidFill>
            <a:srgbClr val="39A96B"/>
          </a:solidFill>
          <a:ln w="0">
            <a:solidFill>
              <a:srgbClr val="39A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CBF2A16-C0EA-48F7-968F-AD9E35FFEE57}"/>
              </a:ext>
            </a:extLst>
          </p:cNvPr>
          <p:cNvSpPr>
            <a:spLocks noGrp="1"/>
          </p:cNvSpPr>
          <p:nvPr/>
        </p:nvSpPr>
        <p:spPr>
          <a:xfrm>
            <a:off x="2381250" y="37909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Informação clínica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41F2E22-A823-4A17-9132-F7782A4FD4E3}"/>
              </a:ext>
            </a:extLst>
          </p:cNvPr>
          <p:cNvSpPr>
            <a:spLocks noGrp="1"/>
          </p:cNvSpPr>
          <p:nvPr/>
        </p:nvSpPr>
        <p:spPr>
          <a:xfrm>
            <a:off x="2381250" y="42291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5146" lnSpcReduction="20000"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Resultados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Pareceres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Receitas e documentos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75AB5D0-C294-4B82-8BD9-CA4103EAD829}"/>
              </a:ext>
            </a:extLst>
          </p:cNvPr>
          <p:cNvSpPr>
            <a:spLocks noGrp="1"/>
          </p:cNvSpPr>
          <p:nvPr/>
        </p:nvSpPr>
        <p:spPr>
          <a:xfrm>
            <a:off x="6229350" y="3524250"/>
            <a:ext cx="4800600" cy="1428750"/>
          </a:xfrm>
          <a:prstGeom prst="roundRect">
            <a:avLst>
              <a:gd name="adj" fmla="val 12000"/>
            </a:avLst>
          </a:prstGeom>
          <a:solidFill>
            <a:srgbClr val="FFF3E7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E141DE9-8DE9-4877-8214-CB7281F007C9}"/>
              </a:ext>
            </a:extLst>
          </p:cNvPr>
          <p:cNvSpPr>
            <a:spLocks noGrp="1"/>
          </p:cNvSpPr>
          <p:nvPr/>
        </p:nvSpPr>
        <p:spPr>
          <a:xfrm>
            <a:off x="6477000" y="3790950"/>
            <a:ext cx="742950" cy="47625"/>
          </a:xfrm>
          <a:prstGeom prst="rect">
            <a:avLst/>
          </a:prstGeom>
          <a:solidFill>
            <a:srgbClr val="F59E42"/>
          </a:solidFill>
          <a:ln w="0">
            <a:solidFill>
              <a:srgbClr val="F59E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31EF299-471D-4AE8-990C-464E40DF1EA3}"/>
              </a:ext>
            </a:extLst>
          </p:cNvPr>
          <p:cNvSpPr>
            <a:spLocks noGrp="1"/>
          </p:cNvSpPr>
          <p:nvPr/>
        </p:nvSpPr>
        <p:spPr>
          <a:xfrm>
            <a:off x="7448550" y="37909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Continuidade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01E81EA-727B-4C6D-BDDA-5F4E691E82FA}"/>
              </a:ext>
            </a:extLst>
          </p:cNvPr>
          <p:cNvSpPr>
            <a:spLocks noGrp="1"/>
          </p:cNvSpPr>
          <p:nvPr/>
        </p:nvSpPr>
        <p:spPr>
          <a:xfrm>
            <a:off x="7448550" y="42291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Notificações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02EAB01-5E34-44F5-802E-F378811FC07C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39001BF-739A-4A46-9AF6-9757319BFDEF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835C4CC-E161-4001-8E15-F6D69206D3FF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A6FD03E-1B58-425C-9C17-8C53253CFA31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938C7A4-8CD7-456A-AB0A-8098B80F9CE8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6200054C-F665-4993-AE13-24D43DC30038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11CDFB5-4D3E-41E3-9051-51C8AD122CFA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906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F436FC1D-6EFD-4990-97D5-AFC6CB607BF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Privacidade por desenho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7083A0-D6D2-40B3-A6F6-72C23AD0A028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Acesso restrito ao contexto do usuário autenticado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EB9EC5A-8E57-45A6-A188-02F3D6C992F5}"/>
              </a:ext>
            </a:extLst>
          </p:cNvPr>
          <p:cNvSpPr>
            <a:spLocks noGrp="1"/>
          </p:cNvSpPr>
          <p:nvPr/>
        </p:nvSpPr>
        <p:spPr>
          <a:xfrm>
            <a:off x="4953000" y="1762125"/>
            <a:ext cx="2286000" cy="2286000"/>
          </a:xfrm>
          <a:prstGeom prst="ellipse">
            <a:avLst/>
          </a:prstGeom>
          <a:solidFill>
            <a:srgbClr val="EAF1FF"/>
          </a:solidFill>
          <a:ln w="381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76C52A1-1037-40B9-8218-347A97A61AEB}"/>
              </a:ext>
            </a:extLst>
          </p:cNvPr>
          <p:cNvSpPr>
            <a:spLocks noGrp="1"/>
          </p:cNvSpPr>
          <p:nvPr/>
        </p:nvSpPr>
        <p:spPr>
          <a:xfrm>
            <a:off x="5572125" y="2381250"/>
            <a:ext cx="1047750" cy="1047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F517F1-CDB8-4749-82CD-9C26785318AC}"/>
              </a:ext>
            </a:extLst>
          </p:cNvPr>
          <p:cNvSpPr>
            <a:spLocks noGrp="1"/>
          </p:cNvSpPr>
          <p:nvPr/>
        </p:nvSpPr>
        <p:spPr>
          <a:xfrm>
            <a:off x="5667375" y="2781300"/>
            <a:ext cx="85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956" lnSpcReduction="20000"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Paciente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0D3974-D31B-4158-ADB3-BC6D45E1A566}"/>
              </a:ext>
            </a:extLst>
          </p:cNvPr>
          <p:cNvSpPr>
            <a:spLocks noGrp="1"/>
          </p:cNvSpPr>
          <p:nvPr/>
        </p:nvSpPr>
        <p:spPr>
          <a:xfrm>
            <a:off x="1123950" y="2095500"/>
            <a:ext cx="2724150" cy="704850"/>
          </a:xfrm>
          <a:prstGeom prst="roundRect">
            <a:avLst>
              <a:gd name="adj" fmla="val 21622"/>
            </a:avLst>
          </a:prstGeom>
          <a:solidFill>
            <a:srgbClr val="E7F7F8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7EFE6C-FBDD-4088-BE47-4AC8B21F0939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Identidade vem do token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2586E37-A684-41EE-ABCE-DE820252A375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2724150" cy="704850"/>
          </a:xfrm>
          <a:prstGeom prst="roundRect">
            <a:avLst>
              <a:gd name="adj" fmla="val 21622"/>
            </a:avLst>
          </a:prstGeom>
          <a:solidFill>
            <a:srgbClr val="EAF7F0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81C7087-FBDD-4FD4-AFBC-D37636CF8D41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Sem dado clínico em logs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9100372-BDD6-492C-B09A-217CB6D6F6F8}"/>
              </a:ext>
            </a:extLst>
          </p:cNvPr>
          <p:cNvSpPr>
            <a:spLocks noGrp="1"/>
          </p:cNvSpPr>
          <p:nvPr/>
        </p:nvSpPr>
        <p:spPr>
          <a:xfrm>
            <a:off x="3467100" y="4648200"/>
            <a:ext cx="2724150" cy="704850"/>
          </a:xfrm>
          <a:prstGeom prst="roundRect">
            <a:avLst>
              <a:gd name="adj" fmla="val 21622"/>
            </a:avLst>
          </a:prstGeom>
          <a:solidFill>
            <a:srgbClr val="FFF3E7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4ABA6D2-39AD-4334-A34B-EA22C9DC14D6}"/>
              </a:ext>
            </a:extLst>
          </p:cNvPr>
          <p:cNvSpPr>
            <a:spLocks noGrp="1"/>
          </p:cNvSpPr>
          <p:nvPr/>
        </p:nvSpPr>
        <p:spPr>
          <a:xfrm>
            <a:off x="3676650" y="4810125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9742" lnSpcReduction="20000"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Registro de outro paciente retorna 404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AC6075-9219-400A-ADD8-31FC6186B111}"/>
              </a:ext>
            </a:extLst>
          </p:cNvPr>
          <p:cNvSpPr>
            <a:spLocks noGrp="1"/>
          </p:cNvSpPr>
          <p:nvPr/>
        </p:nvSpPr>
        <p:spPr>
          <a:xfrm>
            <a:off x="7581900" y="4495800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5785"/>
          </a:bodyPr>
          <a:lstStyle/>
          <a:p>
            <a:pPr algn="ctr">
              <a:lnSpc>
                <a:spcPct val="105000"/>
              </a:lnSpc>
              <a:buNone/>
              <a:defRPr sz="4350" b="1" i="0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59E42"/>
                </a:solidFill>
                <a:latin typeface="Aptos"/>
                <a:ea typeface="Aptos"/>
                <a:cs typeface="Aptos"/>
              </a:rPr>
              <a:t>404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6949A00-D725-41F2-BB0B-0B9405E87BC9}"/>
              </a:ext>
            </a:extLst>
          </p:cNvPr>
          <p:cNvSpPr>
            <a:spLocks noGrp="1"/>
          </p:cNvSpPr>
          <p:nvPr/>
        </p:nvSpPr>
        <p:spPr>
          <a:xfrm>
            <a:off x="6781800" y="52197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500"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Não revelamos nem a existência do recurso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CC27252-5E76-46C8-AF5D-11BCFF105D7C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01909DB-AE9A-43B4-9DF4-D437D73E6E4C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1B733C7-8836-4F1A-A2D6-68F324DB863C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5580668-77D8-457F-9EF6-16637643BFAF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0A9433D-7485-4FB5-9B9F-EC64EB6A2A2F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E382227-3167-40AF-9BC7-1311E4AB6769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9BD6E5C-EBED-462C-BBB5-895B8C0D3650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8811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7D698179-859F-430C-B86C-2C9604B14C5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Modular agora. Distribuído quando fizer sentido.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411673-5631-4FD1-9F9F-8F79CA4AD05A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Monólito modular com Spring Modulith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68816D1-5EDB-4C9B-BCFA-F9A203196021}"/>
              </a:ext>
            </a:extLst>
          </p:cNvPr>
          <p:cNvSpPr>
            <a:spLocks noGrp="1"/>
          </p:cNvSpPr>
          <p:nvPr/>
        </p:nvSpPr>
        <p:spPr>
          <a:xfrm>
            <a:off x="1352550" y="1409700"/>
            <a:ext cx="9486900" cy="3676650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9525">
            <a:solidFill>
              <a:srgbClr val="CDE3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470EB1-3309-4AB9-909B-D8B5CA2DC053}"/>
              </a:ext>
            </a:extLst>
          </p:cNvPr>
          <p:cNvSpPr>
            <a:spLocks noGrp="1"/>
          </p:cNvSpPr>
          <p:nvPr/>
        </p:nvSpPr>
        <p:spPr>
          <a:xfrm>
            <a:off x="1619250" y="16573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Aplicação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8265CF9-6FBD-4B24-B355-A6C0F7F543B1}"/>
              </a:ext>
            </a:extLst>
          </p:cNvPr>
          <p:cNvSpPr>
            <a:spLocks noGrp="1"/>
          </p:cNvSpPr>
          <p:nvPr/>
        </p:nvSpPr>
        <p:spPr>
          <a:xfrm>
            <a:off x="8134350" y="1619250"/>
            <a:ext cx="1809750" cy="361950"/>
          </a:xfrm>
          <a:prstGeom prst="roundRect">
            <a:avLst>
              <a:gd name="adj" fmla="val 47368"/>
            </a:avLst>
          </a:prstGeom>
          <a:solidFill>
            <a:srgbClr val="E7F7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7D9BC4-EA53-48A1-B407-B99A3CF73935}"/>
              </a:ext>
            </a:extLst>
          </p:cNvPr>
          <p:cNvSpPr>
            <a:spLocks noGrp="1"/>
          </p:cNvSpPr>
          <p:nvPr/>
        </p:nvSpPr>
        <p:spPr>
          <a:xfrm>
            <a:off x="8229600" y="16859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156" lnSpcReduction="1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Monólito modular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C7602B9-261D-4D8A-A5A9-146F6D768900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F2C328-46B6-49FF-BF40-9D481EDBC30C}"/>
              </a:ext>
            </a:extLst>
          </p:cNvPr>
          <p:cNvSpPr>
            <a:spLocks noGrp="1"/>
          </p:cNvSpPr>
          <p:nvPr/>
        </p:nvSpPr>
        <p:spPr>
          <a:xfrm>
            <a:off x="1962150" y="24860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IAM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D2FB8CB-8E81-44A8-9826-60FDBCD503E7}"/>
              </a:ext>
            </a:extLst>
          </p:cNvPr>
          <p:cNvSpPr>
            <a:spLocks noGrp="1"/>
          </p:cNvSpPr>
          <p:nvPr/>
        </p:nvSpPr>
        <p:spPr>
          <a:xfrm>
            <a:off x="3562350" y="23622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985645-DA33-4322-A6E0-E4559F0BCCDE}"/>
              </a:ext>
            </a:extLst>
          </p:cNvPr>
          <p:cNvSpPr>
            <a:spLocks noGrp="1"/>
          </p:cNvSpPr>
          <p:nvPr/>
        </p:nvSpPr>
        <p:spPr>
          <a:xfrm>
            <a:off x="3638550" y="24860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Cadastros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085ED61-C0D5-49B7-8093-059CECFE0FCC}"/>
              </a:ext>
            </a:extLst>
          </p:cNvPr>
          <p:cNvSpPr>
            <a:spLocks noGrp="1"/>
          </p:cNvSpPr>
          <p:nvPr/>
        </p:nvSpPr>
        <p:spPr>
          <a:xfrm>
            <a:off x="5238750" y="23622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7F636EC-3F7D-4878-B308-7B46372763C9}"/>
              </a:ext>
            </a:extLst>
          </p:cNvPr>
          <p:cNvSpPr>
            <a:spLocks noGrp="1"/>
          </p:cNvSpPr>
          <p:nvPr/>
        </p:nvSpPr>
        <p:spPr>
          <a:xfrm>
            <a:off x="5314950" y="24860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Consultas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5AC2B01-3BC7-4485-9B63-62E15941FC82}"/>
              </a:ext>
            </a:extLst>
          </p:cNvPr>
          <p:cNvSpPr>
            <a:spLocks noGrp="1"/>
          </p:cNvSpPr>
          <p:nvPr/>
        </p:nvSpPr>
        <p:spPr>
          <a:xfrm>
            <a:off x="6915150" y="23622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CCB41BF-07B1-4B70-85FE-2B58E659B3C6}"/>
              </a:ext>
            </a:extLst>
          </p:cNvPr>
          <p:cNvSpPr>
            <a:spLocks noGrp="1"/>
          </p:cNvSpPr>
          <p:nvPr/>
        </p:nvSpPr>
        <p:spPr>
          <a:xfrm>
            <a:off x="6991350" y="24860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Exames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015BD32-88BF-4E3E-BC58-5F1272ED8889}"/>
              </a:ext>
            </a:extLst>
          </p:cNvPr>
          <p:cNvSpPr>
            <a:spLocks noGrp="1"/>
          </p:cNvSpPr>
          <p:nvPr/>
        </p:nvSpPr>
        <p:spPr>
          <a:xfrm>
            <a:off x="8591550" y="23622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F839B2C-A251-44A5-9BF9-5A50CC4E5525}"/>
              </a:ext>
            </a:extLst>
          </p:cNvPr>
          <p:cNvSpPr>
            <a:spLocks noGrp="1"/>
          </p:cNvSpPr>
          <p:nvPr/>
        </p:nvSpPr>
        <p:spPr>
          <a:xfrm>
            <a:off x="8667750" y="24860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F2ED3F7-395A-440B-9E37-774F8EE07212}"/>
              </a:ext>
            </a:extLst>
          </p:cNvPr>
          <p:cNvSpPr>
            <a:spLocks noGrp="1"/>
          </p:cNvSpPr>
          <p:nvPr/>
        </p:nvSpPr>
        <p:spPr>
          <a:xfrm>
            <a:off x="1885950" y="33528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7F0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A961B82-B72C-4B97-A4D8-C934335B7A3E}"/>
              </a:ext>
            </a:extLst>
          </p:cNvPr>
          <p:cNvSpPr>
            <a:spLocks noGrp="1"/>
          </p:cNvSpPr>
          <p:nvPr/>
        </p:nvSpPr>
        <p:spPr>
          <a:xfrm>
            <a:off x="1962150" y="34766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Pareceres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598ED9F-A6D7-4914-A1AA-EE3F8CACD16A}"/>
              </a:ext>
            </a:extLst>
          </p:cNvPr>
          <p:cNvSpPr>
            <a:spLocks noGrp="1"/>
          </p:cNvSpPr>
          <p:nvPr/>
        </p:nvSpPr>
        <p:spPr>
          <a:xfrm>
            <a:off x="3562350" y="33528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7F0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FAF731F-D59E-476D-B683-77E40E6AD410}"/>
              </a:ext>
            </a:extLst>
          </p:cNvPr>
          <p:cNvSpPr>
            <a:spLocks noGrp="1"/>
          </p:cNvSpPr>
          <p:nvPr/>
        </p:nvSpPr>
        <p:spPr>
          <a:xfrm>
            <a:off x="3638550" y="34766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Receitas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4DDC9523-AA30-4703-AC0D-6C7A50EE09A0}"/>
              </a:ext>
            </a:extLst>
          </p:cNvPr>
          <p:cNvSpPr>
            <a:spLocks noGrp="1"/>
          </p:cNvSpPr>
          <p:nvPr/>
        </p:nvSpPr>
        <p:spPr>
          <a:xfrm>
            <a:off x="5238750" y="33528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7F0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DA0BF8B-337A-4645-9138-B3CE1FF7D49A}"/>
              </a:ext>
            </a:extLst>
          </p:cNvPr>
          <p:cNvSpPr>
            <a:spLocks noGrp="1"/>
          </p:cNvSpPr>
          <p:nvPr/>
        </p:nvSpPr>
        <p:spPr>
          <a:xfrm>
            <a:off x="5314950" y="34766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3FECEE6-C313-4A03-8CBE-39D3DAC352AB}"/>
              </a:ext>
            </a:extLst>
          </p:cNvPr>
          <p:cNvSpPr>
            <a:spLocks noGrp="1"/>
          </p:cNvSpPr>
          <p:nvPr/>
        </p:nvSpPr>
        <p:spPr>
          <a:xfrm>
            <a:off x="6915150" y="33528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7F0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A0D6088-EFB3-4794-BDF9-8D85E80898E2}"/>
              </a:ext>
            </a:extLst>
          </p:cNvPr>
          <p:cNvSpPr>
            <a:spLocks noGrp="1"/>
          </p:cNvSpPr>
          <p:nvPr/>
        </p:nvSpPr>
        <p:spPr>
          <a:xfrm>
            <a:off x="6991350" y="34766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Notificações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EBE45A0-FA41-4502-86FF-34B907E35095}"/>
              </a:ext>
            </a:extLst>
          </p:cNvPr>
          <p:cNvSpPr>
            <a:spLocks noGrp="1"/>
          </p:cNvSpPr>
          <p:nvPr/>
        </p:nvSpPr>
        <p:spPr>
          <a:xfrm>
            <a:off x="8591550" y="3352800"/>
            <a:ext cx="1295400" cy="609600"/>
          </a:xfrm>
          <a:prstGeom prst="roundRect">
            <a:avLst>
              <a:gd name="adj" fmla="val 15625"/>
            </a:avLst>
          </a:prstGeom>
          <a:solidFill>
            <a:srgbClr val="EAF7F0"/>
          </a:solidFill>
          <a:ln w="11430">
            <a:solidFill>
              <a:srgbClr val="BB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32D9CF4-945C-44FA-AFC5-53712014BA50}"/>
              </a:ext>
            </a:extLst>
          </p:cNvPr>
          <p:cNvSpPr>
            <a:spLocks noGrp="1"/>
          </p:cNvSpPr>
          <p:nvPr/>
        </p:nvSpPr>
        <p:spPr>
          <a:xfrm>
            <a:off x="8667750" y="3476625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9890718-F2DB-435B-930A-C1BA6623E2D7}"/>
              </a:ext>
            </a:extLst>
          </p:cNvPr>
          <p:cNvSpPr>
            <a:spLocks noGrp="1"/>
          </p:cNvSpPr>
          <p:nvPr/>
        </p:nvSpPr>
        <p:spPr>
          <a:xfrm>
            <a:off x="1562100" y="5476875"/>
            <a:ext cx="27813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D794A37-00CC-4104-A7F1-A9B78AC02285}"/>
              </a:ext>
            </a:extLst>
          </p:cNvPr>
          <p:cNvSpPr>
            <a:spLocks noGrp="1"/>
          </p:cNvSpPr>
          <p:nvPr/>
        </p:nvSpPr>
        <p:spPr>
          <a:xfrm>
            <a:off x="1657350" y="55435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Fronteiras verificadas no build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EE75F58-0488-4A07-B571-2EAB67C9DBBA}"/>
              </a:ext>
            </a:extLst>
          </p:cNvPr>
          <p:cNvSpPr>
            <a:spLocks noGrp="1"/>
          </p:cNvSpPr>
          <p:nvPr/>
        </p:nvSpPr>
        <p:spPr>
          <a:xfrm>
            <a:off x="4591050" y="5476875"/>
            <a:ext cx="27813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CE15D43-B124-481E-AA63-611BD92311BE}"/>
              </a:ext>
            </a:extLst>
          </p:cNvPr>
          <p:cNvSpPr>
            <a:spLocks noGrp="1"/>
          </p:cNvSpPr>
          <p:nvPr/>
        </p:nvSpPr>
        <p:spPr>
          <a:xfrm>
            <a:off x="4686300" y="55435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Clean Architecture por módulo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A1A1BE4-6F9F-4420-820D-C3C0B27C74C0}"/>
              </a:ext>
            </a:extLst>
          </p:cNvPr>
          <p:cNvSpPr>
            <a:spLocks noGrp="1"/>
          </p:cNvSpPr>
          <p:nvPr/>
        </p:nvSpPr>
        <p:spPr>
          <a:xfrm>
            <a:off x="7620000" y="5476875"/>
            <a:ext cx="27813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5A79E6A-2632-48D3-A2D8-20A8DE8D4CD1}"/>
              </a:ext>
            </a:extLst>
          </p:cNvPr>
          <p:cNvSpPr>
            <a:spLocks noGrp="1"/>
          </p:cNvSpPr>
          <p:nvPr/>
        </p:nvSpPr>
        <p:spPr>
          <a:xfrm>
            <a:off x="7715250" y="55435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03" lnSpcReduction="10000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API pública entre módulos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4B5118A-E78A-4EA7-A1E8-ECBC12BF6B89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DE995613-423F-477E-ACE0-DF7B634FF9E6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4C0F343-BF8A-43F1-AE69-90E151BE9F47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BCC34D38-B4CC-4860-8C6E-4BF0AF2BC9C7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D37D2AF5-8898-4D56-A6F1-5CD5DE1EE83F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01670229-F5CE-4D3B-A52E-359EF82D2536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AA34B14-9C75-44B6-B1F6-0674BC5DEA29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877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F95D50BE-2549-4640-A593-991BDD376D08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Eventos e mensageria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651029-4F64-46ED-AC60-AD2EEF4F8268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 integração acompanha o fluxo clínico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76CC803-14D8-413A-86A8-35DCDA0DAB03}"/>
              </a:ext>
            </a:extLst>
          </p:cNvPr>
          <p:cNvSpPr>
            <a:spLocks noGrp="1"/>
          </p:cNvSpPr>
          <p:nvPr/>
        </p:nvSpPr>
        <p:spPr>
          <a:xfrm>
            <a:off x="1371600" y="1600200"/>
            <a:ext cx="3048000" cy="552450"/>
          </a:xfrm>
          <a:prstGeom prst="roundRect">
            <a:avLst>
              <a:gd name="adj" fmla="val 24138"/>
            </a:avLst>
          </a:prstGeom>
          <a:solidFill>
            <a:srgbClr val="EAF1FF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91BD33-33DA-4698-976E-3EEED5B6F688}"/>
              </a:ext>
            </a:extLst>
          </p:cNvPr>
          <p:cNvSpPr>
            <a:spLocks noGrp="1"/>
          </p:cNvSpPr>
          <p:nvPr/>
        </p:nvSpPr>
        <p:spPr>
          <a:xfrm>
            <a:off x="1562100" y="17335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586" lnSpcReduction="20000"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Caso de uso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77638AF-BEA3-48D4-B17E-BA68F81F403B}"/>
              </a:ext>
            </a:extLst>
          </p:cNvPr>
          <p:cNvSpPr>
            <a:spLocks noGrp="1"/>
          </p:cNvSpPr>
          <p:nvPr/>
        </p:nvSpPr>
        <p:spPr>
          <a:xfrm>
            <a:off x="2876550" y="2190750"/>
            <a:ext cx="38100" cy="266700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86B4A20-061D-4FA4-BD79-3AD9DC29583B}"/>
              </a:ext>
            </a:extLst>
          </p:cNvPr>
          <p:cNvSpPr>
            <a:spLocks noGrp="1"/>
          </p:cNvSpPr>
          <p:nvPr/>
        </p:nvSpPr>
        <p:spPr>
          <a:xfrm>
            <a:off x="1371600" y="2476500"/>
            <a:ext cx="3048000" cy="552450"/>
          </a:xfrm>
          <a:prstGeom prst="roundRect">
            <a:avLst>
              <a:gd name="adj" fmla="val 24138"/>
            </a:avLst>
          </a:prstGeom>
          <a:solidFill>
            <a:srgbClr val="EAF7F0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5D5D13-2855-454F-91E8-4F25442B7A06}"/>
              </a:ext>
            </a:extLst>
          </p:cNvPr>
          <p:cNvSpPr>
            <a:spLocks noGrp="1"/>
          </p:cNvSpPr>
          <p:nvPr/>
        </p:nvSpPr>
        <p:spPr>
          <a:xfrm>
            <a:off x="1562100" y="2609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586" lnSpcReduction="20000"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39A96B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622A77-21DE-4395-B996-118E2171B381}"/>
              </a:ext>
            </a:extLst>
          </p:cNvPr>
          <p:cNvSpPr>
            <a:spLocks noGrp="1"/>
          </p:cNvSpPr>
          <p:nvPr/>
        </p:nvSpPr>
        <p:spPr>
          <a:xfrm>
            <a:off x="2876550" y="3067050"/>
            <a:ext cx="38100" cy="266700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C450F9E-7EBF-44F0-832D-CC1AD8EF64DF}"/>
              </a:ext>
            </a:extLst>
          </p:cNvPr>
          <p:cNvSpPr>
            <a:spLocks noGrp="1"/>
          </p:cNvSpPr>
          <p:nvPr/>
        </p:nvSpPr>
        <p:spPr>
          <a:xfrm>
            <a:off x="1371600" y="3352800"/>
            <a:ext cx="3048000" cy="552450"/>
          </a:xfrm>
          <a:prstGeom prst="roundRect">
            <a:avLst>
              <a:gd name="adj" fmla="val 24138"/>
            </a:avLst>
          </a:prstGeom>
          <a:solidFill>
            <a:srgbClr val="FFF3E7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0B32CF-83BB-4F2E-8020-08060B64C863}"/>
              </a:ext>
            </a:extLst>
          </p:cNvPr>
          <p:cNvSpPr>
            <a:spLocks noGrp="1"/>
          </p:cNvSpPr>
          <p:nvPr/>
        </p:nvSpPr>
        <p:spPr>
          <a:xfrm>
            <a:off x="1562100" y="34861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586" lnSpcReduction="20000"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59E42"/>
                </a:solidFill>
                <a:latin typeface="Aptos"/>
                <a:ea typeface="Aptos"/>
                <a:cs typeface="Aptos"/>
              </a:rPr>
              <a:t>Evento de domínio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BC22DF-D054-4378-A3EB-0A197294DED6}"/>
              </a:ext>
            </a:extLst>
          </p:cNvPr>
          <p:cNvSpPr>
            <a:spLocks noGrp="1"/>
          </p:cNvSpPr>
          <p:nvPr/>
        </p:nvSpPr>
        <p:spPr>
          <a:xfrm>
            <a:off x="2876550" y="3943350"/>
            <a:ext cx="38100" cy="266700"/>
          </a:xfrm>
          <a:prstGeom prst="rect">
            <a:avLst/>
          </a:prstGeom>
          <a:solidFill>
            <a:srgbClr val="0F9FA8"/>
          </a:solidFill>
          <a:ln w="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E2F391C-98FC-4935-8E43-6574A6FA4599}"/>
              </a:ext>
            </a:extLst>
          </p:cNvPr>
          <p:cNvSpPr>
            <a:spLocks noGrp="1"/>
          </p:cNvSpPr>
          <p:nvPr/>
        </p:nvSpPr>
        <p:spPr>
          <a:xfrm>
            <a:off x="1371600" y="4229100"/>
            <a:ext cx="3048000" cy="552450"/>
          </a:xfrm>
          <a:prstGeom prst="roundRect">
            <a:avLst>
              <a:gd name="adj" fmla="val 24138"/>
            </a:avLst>
          </a:prstGeom>
          <a:solidFill>
            <a:srgbClr val="E7F7F8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244C315-0798-41B7-8B53-EF3B3620F842}"/>
              </a:ext>
            </a:extLst>
          </p:cNvPr>
          <p:cNvSpPr>
            <a:spLocks noGrp="1"/>
          </p:cNvSpPr>
          <p:nvPr/>
        </p:nvSpPr>
        <p:spPr>
          <a:xfrm>
            <a:off x="1562100" y="4362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586" lnSpcReduction="20000"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Notificação interna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F6DB735-7659-440F-A76C-998981B2E459}"/>
              </a:ext>
            </a:extLst>
          </p:cNvPr>
          <p:cNvSpPr>
            <a:spLocks noGrp="1"/>
          </p:cNvSpPr>
          <p:nvPr/>
        </p:nvSpPr>
        <p:spPr>
          <a:xfrm>
            <a:off x="5619750" y="2247900"/>
            <a:ext cx="2609850" cy="142875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9525">
            <a:solidFill>
              <a:srgbClr val="D2DC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0B5741-89BD-487F-A28D-90551FEFBB9A}"/>
              </a:ext>
            </a:extLst>
          </p:cNvPr>
          <p:cNvSpPr>
            <a:spLocks noGrp="1"/>
          </p:cNvSpPr>
          <p:nvPr/>
        </p:nvSpPr>
        <p:spPr>
          <a:xfrm>
            <a:off x="5943600" y="2514600"/>
            <a:ext cx="1962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4080" lnSpcReduction="10000"/>
          </a:bodyPr>
          <a:lstStyle/>
          <a:p>
            <a:pPr algn="ctr">
              <a:lnSpc>
                <a:spcPct val="105000"/>
              </a:lnSpc>
              <a:buNone/>
              <a:defRPr sz="247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247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Kafka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B670820-A8AF-4582-865F-7637812B3EE5}"/>
              </a:ext>
            </a:extLst>
          </p:cNvPr>
          <p:cNvSpPr>
            <a:spLocks noGrp="1"/>
          </p:cNvSpPr>
          <p:nvPr/>
        </p:nvSpPr>
        <p:spPr>
          <a:xfrm>
            <a:off x="5943600" y="304800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286"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externalização de eventos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15CBD73-F053-402C-8CEB-F50CDB4D75F5}"/>
              </a:ext>
            </a:extLst>
          </p:cNvPr>
          <p:cNvSpPr>
            <a:spLocks noGrp="1"/>
          </p:cNvSpPr>
          <p:nvPr/>
        </p:nvSpPr>
        <p:spPr>
          <a:xfrm>
            <a:off x="4429125" y="3181350"/>
            <a:ext cx="11811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CB7AAFE-BADD-4FCF-B3E1-BD866A3E914D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Kafka pode falhar.</a:t>
            </a:r>
          </a:p>
          <a:p>
            <a:pPr algn="ctr">
              <a:lnSpc>
                <a:spcPct val="100000"/>
              </a:lnSpc>
              <a:buNone/>
              <a:defRPr sz="22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O atendimento continua.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C84BC4D-C57C-4364-9931-D4A89D44B987}"/>
              </a:ext>
            </a:extLst>
          </p:cNvPr>
          <p:cNvSpPr>
            <a:spLocks noGrp="1"/>
          </p:cNvSpPr>
          <p:nvPr/>
        </p:nvSpPr>
        <p:spPr>
          <a:xfrm>
            <a:off x="8020050" y="4095750"/>
            <a:ext cx="1085850" cy="361950"/>
          </a:xfrm>
          <a:prstGeom prst="roundRect">
            <a:avLst>
              <a:gd name="adj" fmla="val 47368"/>
            </a:avLst>
          </a:prstGeom>
          <a:solidFill>
            <a:srgbClr val="E7F7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3921C80-F53F-4841-81D0-A6E45A639428}"/>
              </a:ext>
            </a:extLst>
          </p:cNvPr>
          <p:cNvSpPr>
            <a:spLocks noGrp="1"/>
          </p:cNvSpPr>
          <p:nvPr/>
        </p:nvSpPr>
        <p:spPr>
          <a:xfrm>
            <a:off x="8115300" y="41624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Após commit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3ABFFC2-AD89-4B10-81FC-1DE34BA9C974}"/>
              </a:ext>
            </a:extLst>
          </p:cNvPr>
          <p:cNvSpPr>
            <a:spLocks noGrp="1"/>
          </p:cNvSpPr>
          <p:nvPr/>
        </p:nvSpPr>
        <p:spPr>
          <a:xfrm>
            <a:off x="9220200" y="4095750"/>
            <a:ext cx="1085850" cy="361950"/>
          </a:xfrm>
          <a:prstGeom prst="roundRect">
            <a:avLst>
              <a:gd name="adj" fmla="val 47368"/>
            </a:avLst>
          </a:prstGeom>
          <a:solidFill>
            <a:srgbClr val="E7F7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BB5526E-F84F-45B9-90F5-5A7B3744EE5C}"/>
              </a:ext>
            </a:extLst>
          </p:cNvPr>
          <p:cNvSpPr>
            <a:spLocks noGrp="1"/>
          </p:cNvSpPr>
          <p:nvPr/>
        </p:nvSpPr>
        <p:spPr>
          <a:xfrm>
            <a:off x="9315450" y="41624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7680" lnSpcReduction="10000"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Idempotente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D32646C-EDB5-4E65-910C-8B2CAAC98330}"/>
              </a:ext>
            </a:extLst>
          </p:cNvPr>
          <p:cNvSpPr>
            <a:spLocks noGrp="1"/>
          </p:cNvSpPr>
          <p:nvPr/>
        </p:nvSpPr>
        <p:spPr>
          <a:xfrm>
            <a:off x="10420350" y="4095750"/>
            <a:ext cx="1085850" cy="361950"/>
          </a:xfrm>
          <a:prstGeom prst="roundRect">
            <a:avLst>
              <a:gd name="adj" fmla="val 47368"/>
            </a:avLst>
          </a:prstGeom>
          <a:solidFill>
            <a:srgbClr val="E7F7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D3B513D-2C70-4687-8B24-D82CB5181847}"/>
              </a:ext>
            </a:extLst>
          </p:cNvPr>
          <p:cNvSpPr>
            <a:spLocks noGrp="1"/>
          </p:cNvSpPr>
          <p:nvPr/>
        </p:nvSpPr>
        <p:spPr>
          <a:xfrm>
            <a:off x="10515600" y="41624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5296" lnSpcReduction="20000"/>
          </a:bodyPr>
          <a:lstStyle/>
          <a:p>
            <a:pPr algn="ctr">
              <a:lnSpc>
                <a:spcPct val="105000"/>
              </a:lnSpc>
              <a:buNone/>
              <a:defRPr sz="97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Sem dado clínico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584BDE9-0B2C-4AAB-A263-FEE8ADD5B2DD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E5CD427-1D25-46CD-9260-89B7446E8074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159ACED-2256-40B6-A4DC-823E9638B5E4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AE757DBA-175A-4AE6-A7A5-B28F31C7AB42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F888FE7-664A-4636-865B-B534C41A072B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CF95831-0B23-47BF-AAFA-3F3A71ADA7B1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B0B1004-5D4D-40FA-B909-0E1B86328D75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301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5F656BE6-0D58-45C8-BFDE-AC19E62F4F9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Especificação antes do código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F183E08-2868-4338-8C19-1480D7D625BE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Decisões registradas antes da implementação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07FE87-07D0-42A0-B6D5-D6C5DA44CFC5}"/>
              </a:ext>
            </a:extLst>
          </p:cNvPr>
          <p:cNvSpPr>
            <a:spLocks noGrp="1"/>
          </p:cNvSpPr>
          <p:nvPr/>
        </p:nvSpPr>
        <p:spPr>
          <a:xfrm>
            <a:off x="1962150" y="2466975"/>
            <a:ext cx="82296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B309071-B324-4848-9F18-2AD86542CAEB}"/>
              </a:ext>
            </a:extLst>
          </p:cNvPr>
          <p:cNvSpPr>
            <a:spLocks noGrp="1"/>
          </p:cNvSpPr>
          <p:nvPr/>
        </p:nvSpPr>
        <p:spPr>
          <a:xfrm>
            <a:off x="1790700" y="23050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F2D33C7-397D-48BA-89C6-70776B5AAE62}"/>
              </a:ext>
            </a:extLst>
          </p:cNvPr>
          <p:cNvSpPr>
            <a:spLocks noGrp="1"/>
          </p:cNvSpPr>
          <p:nvPr/>
        </p:nvSpPr>
        <p:spPr>
          <a:xfrm>
            <a:off x="1790700" y="23622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91B00DE-BB5E-4103-91C4-B843E1D79FCE}"/>
              </a:ext>
            </a:extLst>
          </p:cNvPr>
          <p:cNvSpPr>
            <a:spLocks noGrp="1"/>
          </p:cNvSpPr>
          <p:nvPr/>
        </p:nvSpPr>
        <p:spPr>
          <a:xfrm>
            <a:off x="1266825" y="27813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spec.md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47F670F-E454-4A0A-8B98-49A20AE936B5}"/>
              </a:ext>
            </a:extLst>
          </p:cNvPr>
          <p:cNvSpPr>
            <a:spLocks noGrp="1"/>
          </p:cNvSpPr>
          <p:nvPr/>
        </p:nvSpPr>
        <p:spPr>
          <a:xfrm>
            <a:off x="3933825" y="23050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F386DB-99CF-4732-9863-01FB1C3E0995}"/>
              </a:ext>
            </a:extLst>
          </p:cNvPr>
          <p:cNvSpPr>
            <a:spLocks noGrp="1"/>
          </p:cNvSpPr>
          <p:nvPr/>
        </p:nvSpPr>
        <p:spPr>
          <a:xfrm>
            <a:off x="3933825" y="23622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7BBF115-EB0B-45B1-9417-C2F078B3AE69}"/>
              </a:ext>
            </a:extLst>
          </p:cNvPr>
          <p:cNvSpPr>
            <a:spLocks noGrp="1"/>
          </p:cNvSpPr>
          <p:nvPr/>
        </p:nvSpPr>
        <p:spPr>
          <a:xfrm>
            <a:off x="3409950" y="27813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plan.md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6835E78-CEAD-49D6-B035-72BE62CADBE5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C72196-05C7-4472-8DC7-2B8FC46770FA}"/>
              </a:ext>
            </a:extLst>
          </p:cNvPr>
          <p:cNvSpPr>
            <a:spLocks noGrp="1"/>
          </p:cNvSpPr>
          <p:nvPr/>
        </p:nvSpPr>
        <p:spPr>
          <a:xfrm>
            <a:off x="6076950" y="23622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418474D-B745-40BD-B804-24CA89071733}"/>
              </a:ext>
            </a:extLst>
          </p:cNvPr>
          <p:cNvSpPr>
            <a:spLocks noGrp="1"/>
          </p:cNvSpPr>
          <p:nvPr/>
        </p:nvSpPr>
        <p:spPr>
          <a:xfrm>
            <a:off x="5553075" y="27813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tasks.md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3B06897-5598-40F8-A348-C69C9032A83F}"/>
              </a:ext>
            </a:extLst>
          </p:cNvPr>
          <p:cNvSpPr>
            <a:spLocks noGrp="1"/>
          </p:cNvSpPr>
          <p:nvPr/>
        </p:nvSpPr>
        <p:spPr>
          <a:xfrm>
            <a:off x="8220075" y="23050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A77024F-AEE8-47F5-A03A-E7387CCF869B}"/>
              </a:ext>
            </a:extLst>
          </p:cNvPr>
          <p:cNvSpPr>
            <a:spLocks noGrp="1"/>
          </p:cNvSpPr>
          <p:nvPr/>
        </p:nvSpPr>
        <p:spPr>
          <a:xfrm>
            <a:off x="8220075" y="23622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C3B0BEC-D286-426A-9078-3162C8CA97DF}"/>
              </a:ext>
            </a:extLst>
          </p:cNvPr>
          <p:cNvSpPr>
            <a:spLocks noGrp="1"/>
          </p:cNvSpPr>
          <p:nvPr/>
        </p:nvSpPr>
        <p:spPr>
          <a:xfrm>
            <a:off x="7696200" y="27813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4584" lnSpcReduction="10000"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implementação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1B5A4C9-A7CE-4DF6-9941-E52A34AFE0DF}"/>
              </a:ext>
            </a:extLst>
          </p:cNvPr>
          <p:cNvSpPr>
            <a:spLocks noGrp="1"/>
          </p:cNvSpPr>
          <p:nvPr/>
        </p:nvSpPr>
        <p:spPr>
          <a:xfrm>
            <a:off x="10363200" y="2305050"/>
            <a:ext cx="342900" cy="342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C553BDC-8C61-46E4-A893-8957B009B1B1}"/>
              </a:ext>
            </a:extLst>
          </p:cNvPr>
          <p:cNvSpPr>
            <a:spLocks noGrp="1"/>
          </p:cNvSpPr>
          <p:nvPr/>
        </p:nvSpPr>
        <p:spPr>
          <a:xfrm>
            <a:off x="10363200" y="23622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F4CD950-AC80-4458-A5B6-DDDD49EADE0F}"/>
              </a:ext>
            </a:extLst>
          </p:cNvPr>
          <p:cNvSpPr>
            <a:spLocks noGrp="1"/>
          </p:cNvSpPr>
          <p:nvPr/>
        </p:nvSpPr>
        <p:spPr>
          <a:xfrm>
            <a:off x="9839325" y="27813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análise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418A117-3A83-4896-A323-6D0F4F40A1AA}"/>
              </a:ext>
            </a:extLst>
          </p:cNvPr>
          <p:cNvSpPr>
            <a:spLocks noGrp="1"/>
          </p:cNvSpPr>
          <p:nvPr/>
        </p:nvSpPr>
        <p:spPr>
          <a:xfrm>
            <a:off x="2571750" y="4381500"/>
            <a:ext cx="7048500" cy="70485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9525">
            <a:solidFill>
              <a:srgbClr val="D7E5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6FC7F8A-92C4-45DB-A215-89F4F07D6104}"/>
              </a:ext>
            </a:extLst>
          </p:cNvPr>
          <p:cNvSpPr>
            <a:spLocks noGrp="1"/>
          </p:cNvSpPr>
          <p:nvPr/>
        </p:nvSpPr>
        <p:spPr>
          <a:xfrm>
            <a:off x="2819400" y="4572000"/>
            <a:ext cx="655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10000"/>
          </a:bodyPr>
          <a:lstStyle/>
          <a:p>
            <a:pPr algn="ctr">
              <a:lnSpc>
                <a:spcPct val="105000"/>
              </a:lnSpc>
              <a:buNone/>
              <a:defRPr sz="19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A regra nasce na spec. O código implementa a regra.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75284F3-A723-4F7F-9D0B-8EEB7D7FD1FE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9DD4F8C-34FD-4E35-8DF9-CAD0E6AA4371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1BAB3EC-5DB0-4F48-ADCA-4E189F6CCDDC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A2290FE-41C9-436E-87A0-272E7C3AD9EA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77A85B2-D01A-4B29-9590-76CCDAFE6699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59044251-C672-4F55-BC69-8471B42108F8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F5F8FA"/>
          </a:solidFill>
          <a:ln w="19050">
            <a:solidFill>
              <a:srgbClr val="A9C0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937BF86-7E44-4160-9A12-995800057BD9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946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50F37086-982B-4D91-8D14-C243501DF86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Entrega verificável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FF411B-9CB7-43CB-B74A-70F90A4B2F6A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 MVP foi construído e validado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0CE9142-3375-4709-8D76-0ABAE65DE741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180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42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9F3147-4652-46A5-9E5E-54F43B179180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módulos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B087B7-951B-436E-A216-9547B9178711}"/>
              </a:ext>
            </a:extLst>
          </p:cNvPr>
          <p:cNvSpPr>
            <a:spLocks noGrp="1"/>
          </p:cNvSpPr>
          <p:nvPr/>
        </p:nvSpPr>
        <p:spPr>
          <a:xfrm>
            <a:off x="2971800" y="2190750"/>
            <a:ext cx="180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42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1322E8E-BBB6-4C1D-97F5-5B81483A0755}"/>
              </a:ext>
            </a:extLst>
          </p:cNvPr>
          <p:cNvSpPr>
            <a:spLocks noGrp="1"/>
          </p:cNvSpPr>
          <p:nvPr/>
        </p:nvSpPr>
        <p:spPr>
          <a:xfrm>
            <a:off x="2971800" y="3028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recursos REST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7D1850D-E796-4A0E-B223-1B0B2DD8EAFF}"/>
              </a:ext>
            </a:extLst>
          </p:cNvPr>
          <p:cNvSpPr>
            <a:spLocks noGrp="1"/>
          </p:cNvSpPr>
          <p:nvPr/>
        </p:nvSpPr>
        <p:spPr>
          <a:xfrm>
            <a:off x="5143500" y="2190750"/>
            <a:ext cx="180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42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39A63A-5CA3-4BAC-8177-86B2BEC5E3A4}"/>
              </a:ext>
            </a:extLst>
          </p:cNvPr>
          <p:cNvSpPr>
            <a:spLocks noGrp="1"/>
          </p:cNvSpPr>
          <p:nvPr/>
        </p:nvSpPr>
        <p:spPr>
          <a:xfrm>
            <a:off x="5143500" y="3028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eventos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810E9C-0608-48AB-9170-0FD63211A81E}"/>
              </a:ext>
            </a:extLst>
          </p:cNvPr>
          <p:cNvSpPr>
            <a:spLocks noGrp="1"/>
          </p:cNvSpPr>
          <p:nvPr/>
        </p:nvSpPr>
        <p:spPr>
          <a:xfrm>
            <a:off x="7315200" y="2019300"/>
            <a:ext cx="180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6200"/>
          </a:bodyPr>
          <a:lstStyle/>
          <a:p>
            <a:pPr algn="ctr">
              <a:lnSpc>
                <a:spcPct val="105000"/>
              </a:lnSpc>
              <a:buNone/>
              <a:defRPr sz="4950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39A96B"/>
                </a:solidFill>
                <a:latin typeface="Aptos"/>
                <a:ea typeface="Aptos"/>
                <a:cs typeface="Aptos"/>
              </a:rPr>
              <a:t>422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59CABF-FD7E-401D-846A-AA8931EF0EEE}"/>
              </a:ext>
            </a:extLst>
          </p:cNvPr>
          <p:cNvSpPr>
            <a:spLocks noGrp="1"/>
          </p:cNvSpPr>
          <p:nvPr/>
        </p:nvSpPr>
        <p:spPr>
          <a:xfrm>
            <a:off x="7315200" y="3028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testes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1BD5059-06FC-439A-98DE-3E532B961402}"/>
              </a:ext>
            </a:extLst>
          </p:cNvPr>
          <p:cNvSpPr>
            <a:spLocks noGrp="1"/>
          </p:cNvSpPr>
          <p:nvPr/>
        </p:nvSpPr>
        <p:spPr>
          <a:xfrm>
            <a:off x="9486900" y="2190750"/>
            <a:ext cx="180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42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F5964F4-ECFC-41ED-A2F1-6A8EC6F1B3F5}"/>
              </a:ext>
            </a:extLst>
          </p:cNvPr>
          <p:cNvSpPr>
            <a:spLocks noGrp="1"/>
          </p:cNvSpPr>
          <p:nvPr/>
        </p:nvSpPr>
        <p:spPr>
          <a:xfrm>
            <a:off x="9486900" y="3028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cobertura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8B358B9-7613-483E-899E-AD688FAA6E76}"/>
              </a:ext>
            </a:extLst>
          </p:cNvPr>
          <p:cNvSpPr>
            <a:spLocks noGrp="1"/>
          </p:cNvSpPr>
          <p:nvPr/>
        </p:nvSpPr>
        <p:spPr>
          <a:xfrm>
            <a:off x="2381250" y="4457700"/>
            <a:ext cx="7429500" cy="647700"/>
          </a:xfrm>
          <a:prstGeom prst="roundRect">
            <a:avLst>
              <a:gd name="adj" fmla="val 26471"/>
            </a:avLst>
          </a:prstGeom>
          <a:solidFill>
            <a:srgbClr val="E7F7F8"/>
          </a:solidFill>
          <a:ln w="9525">
            <a:solidFill>
              <a:srgbClr val="C5EB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A919D3-A0F8-4363-8EDF-7B398457C621}"/>
              </a:ext>
            </a:extLst>
          </p:cNvPr>
          <p:cNvSpPr>
            <a:spLocks noGrp="1"/>
          </p:cNvSpPr>
          <p:nvPr/>
        </p:nvSpPr>
        <p:spPr>
          <a:xfrm>
            <a:off x="2724150" y="4629150"/>
            <a:ext cx="6743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0251" lnSpcReduction="10000"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Validado com PostgreSQL + Kafka reais no Docker Compose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8E166E3-DBD2-4D88-A764-3152DFFB5E15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1530BE7-DD8C-488B-A2E6-25EBDF9D00B6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51C017C-8A8A-4776-A2AA-E618D98D5A1B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E467BE5-EBD4-4A1F-A70A-C991087F0745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31BACFF-381A-4053-BAF2-4B5C299819DE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8AB2C46-9528-407F-B6C8-A11F31EEF0D4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57BF2CB-0EE4-4290-B05D-4B278032CA1A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405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FCA919BE-7AE2-45A2-B4C7-903474CF49F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Tecnologia a serviço da jornada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4E1B69-503F-4AC4-B4E1-235D1D3B3333}"/>
              </a:ext>
            </a:extLst>
          </p:cNvPr>
          <p:cNvSpPr>
            <a:spLocks noGrp="1"/>
          </p:cNvSpPr>
          <p:nvPr/>
        </p:nvSpPr>
        <p:spPr>
          <a:xfrm>
            <a:off x="704850" y="9810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Impacto para paciente, profissional e unidade de saúde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ACF4EAD-46BD-4F5A-999B-598887F9155E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2895600" cy="1562100"/>
          </a:xfrm>
          <a:prstGeom prst="roundRect">
            <a:avLst>
              <a:gd name="adj" fmla="val 10976"/>
            </a:avLst>
          </a:prstGeom>
          <a:solidFill>
            <a:srgbClr val="E7F7F8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E0AABA-48A2-4B4C-89F0-277EEB165CBB}"/>
              </a:ext>
            </a:extLst>
          </p:cNvPr>
          <p:cNvSpPr>
            <a:spLocks noGrp="1"/>
          </p:cNvSpPr>
          <p:nvPr/>
        </p:nvSpPr>
        <p:spPr>
          <a:xfrm>
            <a:off x="1276350" y="19240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3479" lnSpcReduction="10000"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Paciente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4496A7-3F33-49EB-BEB7-A89D8C485464}"/>
              </a:ext>
            </a:extLst>
          </p:cNvPr>
          <p:cNvSpPr>
            <a:spLocks noGrp="1"/>
          </p:cNvSpPr>
          <p:nvPr/>
        </p:nvSpPr>
        <p:spPr>
          <a:xfrm>
            <a:off x="1371600" y="24003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973"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Menos incerteza sobre consultas, exames, resultados e documentos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9AB78F5-4BF8-4220-9EDA-7603D00A4D06}"/>
              </a:ext>
            </a:extLst>
          </p:cNvPr>
          <p:cNvSpPr>
            <a:spLocks noGrp="1"/>
          </p:cNvSpPr>
          <p:nvPr/>
        </p:nvSpPr>
        <p:spPr>
          <a:xfrm>
            <a:off x="4438650" y="1657350"/>
            <a:ext cx="2895600" cy="1562100"/>
          </a:xfrm>
          <a:prstGeom prst="roundRect">
            <a:avLst>
              <a:gd name="adj" fmla="val 10976"/>
            </a:avLst>
          </a:prstGeom>
          <a:solidFill>
            <a:srgbClr val="EAF7F0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35DECC-51D2-456A-B532-7487B34262AF}"/>
              </a:ext>
            </a:extLst>
          </p:cNvPr>
          <p:cNvSpPr>
            <a:spLocks noGrp="1"/>
          </p:cNvSpPr>
          <p:nvPr/>
        </p:nvSpPr>
        <p:spPr>
          <a:xfrm>
            <a:off x="4648200" y="19240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3479" lnSpcReduction="10000"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Profissional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FAA888-61F0-4F65-B796-5B4D38BD366B}"/>
              </a:ext>
            </a:extLst>
          </p:cNvPr>
          <p:cNvSpPr>
            <a:spLocks noGrp="1"/>
          </p:cNvSpPr>
          <p:nvPr/>
        </p:nvSpPr>
        <p:spPr>
          <a:xfrm>
            <a:off x="4743450" y="24003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Mais contexto para continuar o atendimento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4B6F5CD-9739-438D-9D36-831E74BD69AD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2895600" cy="1562100"/>
          </a:xfrm>
          <a:prstGeom prst="roundRect">
            <a:avLst>
              <a:gd name="adj" fmla="val 10976"/>
            </a:avLst>
          </a:prstGeom>
          <a:solidFill>
            <a:srgbClr val="EAF1FF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64C7019-A116-47FF-89F4-29274A8D5A09}"/>
              </a:ext>
            </a:extLst>
          </p:cNvPr>
          <p:cNvSpPr>
            <a:spLocks noGrp="1"/>
          </p:cNvSpPr>
          <p:nvPr/>
        </p:nvSpPr>
        <p:spPr>
          <a:xfrm>
            <a:off x="8020050" y="19240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3479" lnSpcReduction="10000"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Unidade de saúde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33E752F-4AF6-4AB6-BBF5-6488B64F9A03}"/>
              </a:ext>
            </a:extLst>
          </p:cNvPr>
          <p:cNvSpPr>
            <a:spLocks noGrp="1"/>
          </p:cNvSpPr>
          <p:nvPr/>
        </p:nvSpPr>
        <p:spPr>
          <a:xfrm>
            <a:off x="8115300" y="24003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Menos retrabalho e processos mais acompanháveis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CB7F254-9801-41E2-86DC-52ADEA7225D6}"/>
              </a:ext>
            </a:extLst>
          </p:cNvPr>
          <p:cNvSpPr>
            <a:spLocks noGrp="1"/>
          </p:cNvSpPr>
          <p:nvPr/>
        </p:nvSpPr>
        <p:spPr>
          <a:xfrm>
            <a:off x="1581150" y="40767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006C90A-0E29-42D2-9B3F-B4D0F307A9F7}"/>
              </a:ext>
            </a:extLst>
          </p:cNvPr>
          <p:cNvSpPr>
            <a:spLocks noGrp="1"/>
          </p:cNvSpPr>
          <p:nvPr/>
        </p:nvSpPr>
        <p:spPr>
          <a:xfrm>
            <a:off x="1885950" y="42672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586" lnSpcReduction="20000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39A96B"/>
                </a:solidFill>
                <a:latin typeface="Aptos"/>
                <a:ea typeface="Aptos"/>
                <a:cs typeface="Aptos"/>
              </a:rPr>
              <a:t>Hoje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717F2EE-45B2-4818-9BFE-2742882587E8}"/>
              </a:ext>
            </a:extLst>
          </p:cNvPr>
          <p:cNvSpPr>
            <a:spLocks noGrp="1"/>
          </p:cNvSpPr>
          <p:nvPr/>
        </p:nvSpPr>
        <p:spPr>
          <a:xfrm>
            <a:off x="1885950" y="4591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10000"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API, segurança, eventos, histórico e observabilidade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313B97F-9AD7-4D93-B584-615EF703501F}"/>
              </a:ext>
            </a:extLst>
          </p:cNvPr>
          <p:cNvSpPr>
            <a:spLocks noGrp="1"/>
          </p:cNvSpPr>
          <p:nvPr/>
        </p:nvSpPr>
        <p:spPr>
          <a:xfrm>
            <a:off x="6610350" y="40767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5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91C3061-5517-4D41-BD76-74C455208ADC}"/>
              </a:ext>
            </a:extLst>
          </p:cNvPr>
          <p:cNvSpPr>
            <a:spLocks noGrp="1"/>
          </p:cNvSpPr>
          <p:nvPr/>
        </p:nvSpPr>
        <p:spPr>
          <a:xfrm>
            <a:off x="6915150" y="42672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586" lnSpcReduction="20000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0F9FA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F9FA8"/>
                </a:solidFill>
                <a:latin typeface="Aptos"/>
                <a:ea typeface="Aptos"/>
                <a:cs typeface="Aptos"/>
              </a:rPr>
              <a:t>Próximos passos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4B143A5-2A8B-4C10-A07D-53ECCD546AEA}"/>
              </a:ext>
            </a:extLst>
          </p:cNvPr>
          <p:cNvSpPr>
            <a:spLocks noGrp="1"/>
          </p:cNvSpPr>
          <p:nvPr/>
        </p:nvSpPr>
        <p:spPr>
          <a:xfrm>
            <a:off x="6915150" y="4591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10000"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Interfaces, interoperabilidade, triagem e indicadores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DD242F3-B099-4893-A285-1E697EAE02A6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CFEAEC"/>
          </a:solidFill>
          <a:ln w="0">
            <a:solidFill>
              <a:srgbClr val="CFEA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9396C96-D0B4-4A0A-85BB-AB9A4F53141E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409B7F8-625F-4958-8DA4-E3779FAC6870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C74C60E-1053-4AD1-AD1B-CD8F83F32D94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B506B0A-99ED-4BF8-A1A2-82FB988E5677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2EFEA57-26F9-41E1-9551-97A1066B9CFF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0F9FA8"/>
          </a:solidFill>
          <a:ln w="19050">
            <a:solidFill>
              <a:srgbClr val="0F9F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224C879-AE98-4398-8A99-F6BAED27E96B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8CA3B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CA3B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62716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1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86C53A73-BD87-4F53-9952-1A3D52661EEB}"/>
              </a:ext>
            </a:extLst>
          </p:cNvPr>
          <p:cNvSpPr>
            <a:spLocks noGrp="1"/>
          </p:cNvSpPr>
          <p:nvPr/>
        </p:nvSpPr>
        <p:spPr>
          <a:xfrm>
            <a:off x="1657350" y="1123950"/>
            <a:ext cx="88773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3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 se toda a jornada do paciente pudesse ser acompanhada como uma única história?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24EE2C7-F27C-46F1-8497-E4047FBFA23C}"/>
              </a:ext>
            </a:extLst>
          </p:cNvPr>
          <p:cNvSpPr>
            <a:spLocks noGrp="1"/>
          </p:cNvSpPr>
          <p:nvPr/>
        </p:nvSpPr>
        <p:spPr>
          <a:xfrm>
            <a:off x="2381250" y="28003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 i="0">
                <a:solidFill>
                  <a:srgbClr val="9FE7E2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9FE7E2"/>
                </a:solidFill>
                <a:latin typeface="Aptos"/>
                <a:ea typeface="Aptos"/>
                <a:cs typeface="Aptos"/>
              </a:rPr>
              <a:t>Foi isso que nós construímos.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704ED9-44AD-4B5B-98EC-833B8422691D}"/>
              </a:ext>
            </a:extLst>
          </p:cNvPr>
          <p:cNvSpPr>
            <a:spLocks noGrp="1"/>
          </p:cNvSpPr>
          <p:nvPr/>
        </p:nvSpPr>
        <p:spPr>
          <a:xfrm>
            <a:off x="2543175" y="4248150"/>
            <a:ext cx="7105650" cy="38100"/>
          </a:xfrm>
          <a:prstGeom prst="rect">
            <a:avLst/>
          </a:prstGeom>
          <a:solidFill>
            <a:srgbClr val="66C8CC"/>
          </a:solidFill>
          <a:ln w="0">
            <a:solidFill>
              <a:srgbClr val="66C8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191498E-796E-4CFA-9801-498CAC6E1100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285750" cy="285750"/>
          </a:xfrm>
          <a:prstGeom prst="ellipse">
            <a:avLst/>
          </a:prstGeom>
          <a:solidFill>
            <a:srgbClr val="0E314E"/>
          </a:solidFill>
          <a:ln w="28575">
            <a:solidFill>
              <a:srgbClr val="9FE7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AB17331-0FF8-40BE-9D7C-70C20C5BA932}"/>
              </a:ext>
            </a:extLst>
          </p:cNvPr>
          <p:cNvSpPr>
            <a:spLocks noGrp="1"/>
          </p:cNvSpPr>
          <p:nvPr/>
        </p:nvSpPr>
        <p:spPr>
          <a:xfrm>
            <a:off x="2400300" y="41719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FE7E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FE7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D54914-050F-4C4E-B581-FEDCEB4837C2}"/>
              </a:ext>
            </a:extLst>
          </p:cNvPr>
          <p:cNvSpPr>
            <a:spLocks noGrp="1"/>
          </p:cNvSpPr>
          <p:nvPr/>
        </p:nvSpPr>
        <p:spPr>
          <a:xfrm>
            <a:off x="1876425" y="459105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D7EEF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EF3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49C23A2-ED1D-4C31-AA93-634AF2A523A1}"/>
              </a:ext>
            </a:extLst>
          </p:cNvPr>
          <p:cNvSpPr>
            <a:spLocks noGrp="1"/>
          </p:cNvSpPr>
          <p:nvPr/>
        </p:nvSpPr>
        <p:spPr>
          <a:xfrm>
            <a:off x="4248150" y="4114800"/>
            <a:ext cx="285750" cy="285750"/>
          </a:xfrm>
          <a:prstGeom prst="ellipse">
            <a:avLst/>
          </a:prstGeom>
          <a:solidFill>
            <a:srgbClr val="0E314E"/>
          </a:solidFill>
          <a:ln w="28575">
            <a:solidFill>
              <a:srgbClr val="9FE7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B8021C-5EC4-4E20-9A0E-5EBB87D9747F}"/>
              </a:ext>
            </a:extLst>
          </p:cNvPr>
          <p:cNvSpPr>
            <a:spLocks noGrp="1"/>
          </p:cNvSpPr>
          <p:nvPr/>
        </p:nvSpPr>
        <p:spPr>
          <a:xfrm>
            <a:off x="4248150" y="41719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FE7E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FE7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54585FC-F56A-45F0-B42A-CFC1A6A2535E}"/>
              </a:ext>
            </a:extLst>
          </p:cNvPr>
          <p:cNvSpPr>
            <a:spLocks noGrp="1"/>
          </p:cNvSpPr>
          <p:nvPr/>
        </p:nvSpPr>
        <p:spPr>
          <a:xfrm>
            <a:off x="3724275" y="459105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D7EEF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EF3"/>
                </a:solidFill>
                <a:latin typeface="Aptos"/>
                <a:ea typeface="Aptos"/>
                <a:cs typeface="Aptos"/>
              </a:rPr>
              <a:t>Exame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547E70B-7590-4153-87CE-AB714B0B91A7}"/>
              </a:ext>
            </a:extLst>
          </p:cNvPr>
          <p:cNvSpPr>
            <a:spLocks noGrp="1"/>
          </p:cNvSpPr>
          <p:nvPr/>
        </p:nvSpPr>
        <p:spPr>
          <a:xfrm>
            <a:off x="6096000" y="4114800"/>
            <a:ext cx="285750" cy="285750"/>
          </a:xfrm>
          <a:prstGeom prst="ellipse">
            <a:avLst/>
          </a:prstGeom>
          <a:solidFill>
            <a:srgbClr val="0E314E"/>
          </a:solidFill>
          <a:ln w="28575">
            <a:solidFill>
              <a:srgbClr val="9FE7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CA9B0F-F0F6-4187-8FA2-F7AE358B4B98}"/>
              </a:ext>
            </a:extLst>
          </p:cNvPr>
          <p:cNvSpPr>
            <a:spLocks noGrp="1"/>
          </p:cNvSpPr>
          <p:nvPr/>
        </p:nvSpPr>
        <p:spPr>
          <a:xfrm>
            <a:off x="6096000" y="41719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FE7E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FE7E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731745-EBDA-4CA7-A96C-5647D131468E}"/>
              </a:ext>
            </a:extLst>
          </p:cNvPr>
          <p:cNvSpPr>
            <a:spLocks noGrp="1"/>
          </p:cNvSpPr>
          <p:nvPr/>
        </p:nvSpPr>
        <p:spPr>
          <a:xfrm>
            <a:off x="5572125" y="459105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D7EEF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EF3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E3D5996-73EF-4A22-8633-C827BC4D2983}"/>
              </a:ext>
            </a:extLst>
          </p:cNvPr>
          <p:cNvSpPr>
            <a:spLocks noGrp="1"/>
          </p:cNvSpPr>
          <p:nvPr/>
        </p:nvSpPr>
        <p:spPr>
          <a:xfrm>
            <a:off x="7943850" y="4114800"/>
            <a:ext cx="285750" cy="285750"/>
          </a:xfrm>
          <a:prstGeom prst="ellipse">
            <a:avLst/>
          </a:prstGeom>
          <a:solidFill>
            <a:srgbClr val="0E314E"/>
          </a:solidFill>
          <a:ln w="28575">
            <a:solidFill>
              <a:srgbClr val="9FE7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BB9CEE4-2CB5-4E44-ACB7-5ED78DABBABC}"/>
              </a:ext>
            </a:extLst>
          </p:cNvPr>
          <p:cNvSpPr>
            <a:spLocks noGrp="1"/>
          </p:cNvSpPr>
          <p:nvPr/>
        </p:nvSpPr>
        <p:spPr>
          <a:xfrm>
            <a:off x="7943850" y="41719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FE7E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FE7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6FF1E30-4EFE-4CEA-A7BF-2EF1240AAED2}"/>
              </a:ext>
            </a:extLst>
          </p:cNvPr>
          <p:cNvSpPr>
            <a:spLocks noGrp="1"/>
          </p:cNvSpPr>
          <p:nvPr/>
        </p:nvSpPr>
        <p:spPr>
          <a:xfrm>
            <a:off x="7419975" y="459105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D7EEF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EF3"/>
                </a:solidFill>
                <a:latin typeface="Aptos"/>
                <a:ea typeface="Aptos"/>
                <a:cs typeface="Aptos"/>
              </a:rPr>
              <a:t>Parecer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42EE699-DEDF-4886-A239-5899771EE4B9}"/>
              </a:ext>
            </a:extLst>
          </p:cNvPr>
          <p:cNvSpPr>
            <a:spLocks noGrp="1"/>
          </p:cNvSpPr>
          <p:nvPr/>
        </p:nvSpPr>
        <p:spPr>
          <a:xfrm>
            <a:off x="9791700" y="4114800"/>
            <a:ext cx="285750" cy="285750"/>
          </a:xfrm>
          <a:prstGeom prst="ellipse">
            <a:avLst/>
          </a:prstGeom>
          <a:solidFill>
            <a:srgbClr val="0E314E"/>
          </a:solidFill>
          <a:ln w="28575">
            <a:solidFill>
              <a:srgbClr val="9FE7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FD56C33-8A6C-468B-A91F-B80525AA553C}"/>
              </a:ext>
            </a:extLst>
          </p:cNvPr>
          <p:cNvSpPr>
            <a:spLocks noGrp="1"/>
          </p:cNvSpPr>
          <p:nvPr/>
        </p:nvSpPr>
        <p:spPr>
          <a:xfrm>
            <a:off x="9791700" y="41719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074" lnSpcReduction="20000"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FE7E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FE7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4E2311F-6E2A-477E-B1B7-0B3FC28FD4E2}"/>
              </a:ext>
            </a:extLst>
          </p:cNvPr>
          <p:cNvSpPr>
            <a:spLocks noGrp="1"/>
          </p:cNvSpPr>
          <p:nvPr/>
        </p:nvSpPr>
        <p:spPr>
          <a:xfrm>
            <a:off x="9267825" y="459105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D7EEF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EF3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EA2FB64-71E2-4C3D-B75E-F49CE032B437}"/>
              </a:ext>
            </a:extLst>
          </p:cNvPr>
          <p:cNvSpPr>
            <a:spLocks noGrp="1"/>
          </p:cNvSpPr>
          <p:nvPr/>
        </p:nvSpPr>
        <p:spPr>
          <a:xfrm>
            <a:off x="3448050" y="5619750"/>
            <a:ext cx="529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6865" lnSpcReduction="10000"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Plataforma Digital de Atendimento SUS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5F3C504-7CCC-41AB-9D43-2561DACEBD23}"/>
              </a:ext>
            </a:extLst>
          </p:cNvPr>
          <p:cNvSpPr>
            <a:spLocks noGrp="1"/>
          </p:cNvSpPr>
          <p:nvPr/>
        </p:nvSpPr>
        <p:spPr>
          <a:xfrm>
            <a:off x="4171950" y="5962650"/>
            <a:ext cx="384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286"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B9D9E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9D9E5"/>
                </a:solidFill>
                <a:latin typeface="Aptos"/>
                <a:ea typeface="Aptos"/>
                <a:cs typeface="Aptos"/>
              </a:rPr>
              <a:t>Grupo 32 - Hackathon FIAP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6118F6B-D4F1-4D81-9813-0D7EA04D2043}"/>
              </a:ext>
            </a:extLst>
          </p:cNvPr>
          <p:cNvSpPr>
            <a:spLocks noGrp="1"/>
          </p:cNvSpPr>
          <p:nvPr/>
        </p:nvSpPr>
        <p:spPr>
          <a:xfrm>
            <a:off x="752475" y="6219825"/>
            <a:ext cx="1143000" cy="19050"/>
          </a:xfrm>
          <a:prstGeom prst="rect">
            <a:avLst/>
          </a:prstGeom>
          <a:solidFill>
            <a:srgbClr val="2E6179"/>
          </a:solidFill>
          <a:ln w="0">
            <a:solidFill>
              <a:srgbClr val="2E61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2663EB9-75F7-44C1-B15F-C35F7A655614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3350" cy="133350"/>
          </a:xfrm>
          <a:prstGeom prst="ellipse">
            <a:avLst/>
          </a:prstGeom>
          <a:solidFill>
            <a:srgbClr val="9EDCE0"/>
          </a:solidFill>
          <a:ln w="19050">
            <a:solidFill>
              <a:srgbClr val="9EDC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D4D7071-04F4-40EA-9155-69715E00E0B2}"/>
              </a:ext>
            </a:extLst>
          </p:cNvPr>
          <p:cNvSpPr>
            <a:spLocks noGrp="1"/>
          </p:cNvSpPr>
          <p:nvPr/>
        </p:nvSpPr>
        <p:spPr>
          <a:xfrm>
            <a:off x="971550" y="6153150"/>
            <a:ext cx="133350" cy="133350"/>
          </a:xfrm>
          <a:prstGeom prst="ellipse">
            <a:avLst/>
          </a:prstGeom>
          <a:solidFill>
            <a:srgbClr val="9EDCE0"/>
          </a:solidFill>
          <a:ln w="19050">
            <a:solidFill>
              <a:srgbClr val="9EDC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0C4366A-EB37-4BEA-8B50-74B666BBF704}"/>
              </a:ext>
            </a:extLst>
          </p:cNvPr>
          <p:cNvSpPr>
            <a:spLocks noGrp="1"/>
          </p:cNvSpPr>
          <p:nvPr/>
        </p:nvSpPr>
        <p:spPr>
          <a:xfrm>
            <a:off x="1257300" y="6153150"/>
            <a:ext cx="133350" cy="133350"/>
          </a:xfrm>
          <a:prstGeom prst="ellipse">
            <a:avLst/>
          </a:prstGeom>
          <a:solidFill>
            <a:srgbClr val="9EDCE0"/>
          </a:solidFill>
          <a:ln w="19050">
            <a:solidFill>
              <a:srgbClr val="9EDC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85764764-F158-4C70-BBAB-988A1349CB80}"/>
              </a:ext>
            </a:extLst>
          </p:cNvPr>
          <p:cNvSpPr>
            <a:spLocks noGrp="1"/>
          </p:cNvSpPr>
          <p:nvPr/>
        </p:nvSpPr>
        <p:spPr>
          <a:xfrm>
            <a:off x="1543050" y="6153150"/>
            <a:ext cx="133350" cy="133350"/>
          </a:xfrm>
          <a:prstGeom prst="ellipse">
            <a:avLst/>
          </a:prstGeom>
          <a:solidFill>
            <a:srgbClr val="9EDCE0"/>
          </a:solidFill>
          <a:ln w="19050">
            <a:solidFill>
              <a:srgbClr val="9EDC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7CE7EA2-FD6E-45A0-8CA6-07574CA0CACB}"/>
              </a:ext>
            </a:extLst>
          </p:cNvPr>
          <p:cNvSpPr>
            <a:spLocks noGrp="1"/>
          </p:cNvSpPr>
          <p:nvPr/>
        </p:nvSpPr>
        <p:spPr>
          <a:xfrm>
            <a:off x="1828800" y="6153150"/>
            <a:ext cx="133350" cy="133350"/>
          </a:xfrm>
          <a:prstGeom prst="ellipse">
            <a:avLst/>
          </a:prstGeom>
          <a:solidFill>
            <a:srgbClr val="9EDCE0"/>
          </a:solidFill>
          <a:ln w="19050">
            <a:solidFill>
              <a:srgbClr val="9EDC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31D10CB-A3D5-4F34-A6BB-A35489F868B3}"/>
              </a:ext>
            </a:extLst>
          </p:cNvPr>
          <p:cNvSpPr>
            <a:spLocks noGrp="1"/>
          </p:cNvSpPr>
          <p:nvPr/>
        </p:nvSpPr>
        <p:spPr>
          <a:xfrm>
            <a:off x="10972800" y="61150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 i="0">
                <a:solidFill>
                  <a:srgbClr val="B9D9E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9D9E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3060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2564</Words>
  <Application>Microsoft Office PowerPoint</Application>
  <DocSecurity>0</DocSecurity>
  <PresentationFormat>Widescreen</PresentationFormat>
  <Paragraphs>496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Danilo Paula - TI - IPOG Goiânia</cp:lastModifiedBy>
  <cp:revision>2</cp:revision>
  <dcterms:created xsi:type="dcterms:W3CDTF">2026-09-29T18:31:10Z</dcterms:created>
  <dcterms:modified xsi:type="dcterms:W3CDTF">2026-09-29T20:46:13Z</dcterms:modified>
</cp:coreProperties>
</file>